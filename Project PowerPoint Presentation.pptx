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Caveat"/>
      <p:regular r:id="rId16"/>
      <p:bold r:id="rId17"/>
    </p:embeddedFont>
    <p:embeddedFont>
      <p:font typeface="Source Code Pro"/>
      <p:regular r:id="rId18"/>
      <p:bold r:id="rId19"/>
      <p:italic r:id="rId20"/>
      <p:boldItalic r:id="rId21"/>
    </p:embeddedFont>
    <p:embeddedFont>
      <p:font typeface="Oswald"/>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SourceCodePro-italic.fntdata"/><Relationship Id="rId11" Type="http://schemas.openxmlformats.org/officeDocument/2006/relationships/slide" Target="slides/slide6.xml"/><Relationship Id="rId22" Type="http://schemas.openxmlformats.org/officeDocument/2006/relationships/font" Target="fonts/Oswald-regular.fntdata"/><Relationship Id="rId10" Type="http://schemas.openxmlformats.org/officeDocument/2006/relationships/slide" Target="slides/slide5.xml"/><Relationship Id="rId21" Type="http://schemas.openxmlformats.org/officeDocument/2006/relationships/font" Target="fonts/SourceCodePro-boldItalic.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Oswa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Caveat-bold.fntdata"/><Relationship Id="rId16" Type="http://schemas.openxmlformats.org/officeDocument/2006/relationships/font" Target="fonts/Caveat-regular.fntdata"/><Relationship Id="rId5" Type="http://schemas.openxmlformats.org/officeDocument/2006/relationships/notesMaster" Target="notesMasters/notesMaster1.xml"/><Relationship Id="rId19" Type="http://schemas.openxmlformats.org/officeDocument/2006/relationships/font" Target="fonts/SourceCodePro-bold.fntdata"/><Relationship Id="rId6" Type="http://schemas.openxmlformats.org/officeDocument/2006/relationships/slide" Target="slides/slide1.xml"/><Relationship Id="rId18" Type="http://schemas.openxmlformats.org/officeDocument/2006/relationships/font" Target="fonts/SourceCodePr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b73e4935e8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b73e4935e8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b73e4935e8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b73e4935e8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b73e4935e8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b73e4935e8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b73e4935e8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b73e4935e8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b73e4935e8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b73e4935e8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b73e4935e8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b73e4935e8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b73e4935e8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b73e4935e8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b73e4935e8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b73e4935e8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b73e4935e8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b73e4935e8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cxnSp>
        <p:nvCxnSpPr>
          <p:cNvPr id="20" name="Google Shape;20;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1" name="Google Shape;21;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cxnSp>
        <p:nvCxnSpPr>
          <p:cNvPr id="25" name="Google Shape;25;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6" name="Google Shape;26;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7" name="Google Shape;27;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cxnSp>
        <p:nvCxnSpPr>
          <p:cNvPr id="34" name="Google Shape;34;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35" name="Google Shape;35;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6" name="Google Shape;36;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 name="Google Shape;37;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8" name="Shape 38"/>
        <p:cNvGrpSpPr/>
        <p:nvPr/>
      </p:nvGrpSpPr>
      <p:grpSpPr>
        <a:xfrm>
          <a:off x="0" y="0"/>
          <a:ext cx="0" cy="0"/>
          <a:chOff x="0" y="0"/>
          <a:chExt cx="0" cy="0"/>
        </a:xfrm>
      </p:grpSpPr>
      <p:sp>
        <p:nvSpPr>
          <p:cNvPr id="39" name="Google Shape;39;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1" name="Shape 41"/>
        <p:cNvGrpSpPr/>
        <p:nvPr/>
      </p:nvGrpSpPr>
      <p:grpSpPr>
        <a:xfrm>
          <a:off x="0" y="0"/>
          <a:ext cx="0" cy="0"/>
          <a:chOff x="0" y="0"/>
          <a:chExt cx="0" cy="0"/>
        </a:xfrm>
      </p:grpSpPr>
      <p:sp>
        <p:nvSpPr>
          <p:cNvPr id="42" name="Google Shape;42;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44" name="Google Shape;44;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45" name="Google Shape;45;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cxnSp>
        <p:nvCxnSpPr>
          <p:cNvPr id="52" name="Google Shape;52;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53" name="Google Shape;53;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54" name="Google Shape;54;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ro"/>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hyperlink" Target="https://www.youtube.com/watch?v=MrbMIIIjclY" TargetMode="External"/><Relationship Id="rId4" Type="http://schemas.openxmlformats.org/officeDocument/2006/relationships/hyperlink" Target="https://github.com/andreeaony/Vector-Databases-for-Semantic-Search/blob/main/semanticCompression.py"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hyperlink" Target="https://www.kaggle.com/datasets/amananandrai/ag-news-classification-dataset?resource=download" TargetMode="External"/><Relationship Id="rId4" Type="http://schemas.openxmlformats.org/officeDocument/2006/relationships/hyperlink" Target="https://huggingface.co/sentence-transformers/all-MiniLM-L6-v2" TargetMode="External"/><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github.com/andreeaony/Vector-Databases-for-Semantic-Search?tab=readme-ov-file#5-analysis--interpretation"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arxiv.org/pdf/2310.14021" TargetMode="External"/><Relationship Id="rId4" Type="http://schemas.openxmlformats.org/officeDocument/2006/relationships/hyperlink" Target="https://dl.acm.org/doi/pdf/10.1145/3733723.3742469" TargetMode="External"/><Relationship Id="rId5" Type="http://schemas.openxmlformats.org/officeDocument/2006/relationships/hyperlink" Target="https://arxiv.org/pdf/2507.19715" TargetMode="External"/><Relationship Id="rId6" Type="http://schemas.openxmlformats.org/officeDocument/2006/relationships/hyperlink" Target="https://chatgpt.com/" TargetMode="External"/><Relationship Id="rId7" Type="http://schemas.openxmlformats.org/officeDocument/2006/relationships/hyperlink" Target="https://www.kaggle.com/datasets/amananandrai/ag-news-classification-dataset?resource=download" TargetMode="External"/><Relationship Id="rId8" Type="http://schemas.openxmlformats.org/officeDocument/2006/relationships/hyperlink" Target="https://huggingface.co/sentence-transformers/all-MiniLM-L6-v2"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github.com/andreeaony/Vector-Databases-for-Semantic-Search"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 name="Shape 61"/>
        <p:cNvGrpSpPr/>
        <p:nvPr/>
      </p:nvGrpSpPr>
      <p:grpSpPr>
        <a:xfrm>
          <a:off x="0" y="0"/>
          <a:ext cx="0" cy="0"/>
          <a:chOff x="0" y="0"/>
          <a:chExt cx="0" cy="0"/>
        </a:xfrm>
      </p:grpSpPr>
      <p:sp>
        <p:nvSpPr>
          <p:cNvPr id="62" name="Google Shape;62;p13"/>
          <p:cNvSpPr txBox="1"/>
          <p:nvPr>
            <p:ph type="ctrTitle"/>
          </p:nvPr>
        </p:nvSpPr>
        <p:spPr>
          <a:xfrm>
            <a:off x="990600" y="1284300"/>
            <a:ext cx="7162800" cy="1584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b="1" lang="ro" u="sng">
                <a:latin typeface="Georgia"/>
                <a:ea typeface="Georgia"/>
                <a:cs typeface="Georgia"/>
                <a:sym typeface="Georgia"/>
              </a:rPr>
              <a:t>Vector Databases </a:t>
            </a:r>
            <a:endParaRPr b="1" u="sng">
              <a:latin typeface="Georgia"/>
              <a:ea typeface="Georgia"/>
              <a:cs typeface="Georgia"/>
              <a:sym typeface="Georgia"/>
            </a:endParaRPr>
          </a:p>
          <a:p>
            <a:pPr indent="0" lvl="0" marL="0" rtl="0" algn="ctr">
              <a:spcBef>
                <a:spcPts val="0"/>
              </a:spcBef>
              <a:spcAft>
                <a:spcPts val="0"/>
              </a:spcAft>
              <a:buNone/>
            </a:pPr>
            <a:r>
              <a:rPr b="1" lang="ro" u="sng">
                <a:latin typeface="Georgia"/>
                <a:ea typeface="Georgia"/>
                <a:cs typeface="Georgia"/>
                <a:sym typeface="Georgia"/>
              </a:rPr>
              <a:t>for </a:t>
            </a:r>
            <a:endParaRPr b="1" u="sng">
              <a:latin typeface="Georgia"/>
              <a:ea typeface="Georgia"/>
              <a:cs typeface="Georgia"/>
              <a:sym typeface="Georgia"/>
            </a:endParaRPr>
          </a:p>
          <a:p>
            <a:pPr indent="0" lvl="0" marL="0" rtl="0" algn="ctr">
              <a:spcBef>
                <a:spcPts val="0"/>
              </a:spcBef>
              <a:spcAft>
                <a:spcPts val="0"/>
              </a:spcAft>
              <a:buNone/>
            </a:pPr>
            <a:r>
              <a:rPr b="1" lang="ro" u="sng">
                <a:latin typeface="Georgia"/>
                <a:ea typeface="Georgia"/>
                <a:cs typeface="Georgia"/>
                <a:sym typeface="Georgia"/>
              </a:rPr>
              <a:t>Semantic Search</a:t>
            </a:r>
            <a:endParaRPr b="1" u="sng">
              <a:latin typeface="Georgia"/>
              <a:ea typeface="Georgia"/>
              <a:cs typeface="Georgia"/>
              <a:sym typeface="Georgia"/>
            </a:endParaRPr>
          </a:p>
        </p:txBody>
      </p:sp>
      <p:sp>
        <p:nvSpPr>
          <p:cNvPr id="63" name="Google Shape;63;p13"/>
          <p:cNvSpPr txBox="1"/>
          <p:nvPr>
            <p:ph idx="1" type="subTitle"/>
          </p:nvPr>
        </p:nvSpPr>
        <p:spPr>
          <a:xfrm>
            <a:off x="1699200" y="4051800"/>
            <a:ext cx="5745600" cy="70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688"/>
              <a:buNone/>
            </a:pPr>
            <a:r>
              <a:rPr b="1" lang="ro" sz="1325">
                <a:latin typeface="Georgia"/>
                <a:ea typeface="Georgia"/>
                <a:cs typeface="Georgia"/>
                <a:sym typeface="Georgia"/>
              </a:rPr>
              <a:t>Onisie Andreea</a:t>
            </a:r>
            <a:endParaRPr b="1" sz="1325">
              <a:latin typeface="Georgia"/>
              <a:ea typeface="Georgia"/>
              <a:cs typeface="Georgia"/>
              <a:sym typeface="Georgia"/>
            </a:endParaRPr>
          </a:p>
          <a:p>
            <a:pPr indent="0" lvl="0" marL="0" rtl="0" algn="ctr">
              <a:spcBef>
                <a:spcPts val="0"/>
              </a:spcBef>
              <a:spcAft>
                <a:spcPts val="0"/>
              </a:spcAft>
              <a:buSzPts val="688"/>
              <a:buNone/>
            </a:pPr>
            <a:r>
              <a:rPr b="1" lang="ro" sz="1325">
                <a:latin typeface="Georgia"/>
                <a:ea typeface="Georgia"/>
                <a:cs typeface="Georgia"/>
                <a:sym typeface="Georgia"/>
              </a:rPr>
              <a:t>BDNSV Final Project - Year III 2025-2026, gr. 342</a:t>
            </a:r>
            <a:endParaRPr b="1" sz="1325">
              <a:latin typeface="Georgia"/>
              <a:ea typeface="Georgia"/>
              <a:cs typeface="Georgia"/>
              <a:sym typeface="Georgia"/>
            </a:endParaRPr>
          </a:p>
          <a:p>
            <a:pPr indent="0" lvl="0" marL="0" rtl="0" algn="ctr">
              <a:spcBef>
                <a:spcPts val="0"/>
              </a:spcBef>
              <a:spcAft>
                <a:spcPts val="0"/>
              </a:spcAft>
              <a:buSzPts val="688"/>
              <a:buNone/>
            </a:pPr>
            <a:r>
              <a:t/>
            </a:r>
            <a:endParaRPr b="1" sz="1125">
              <a:latin typeface="Georgia"/>
              <a:ea typeface="Georgia"/>
              <a:cs typeface="Georgia"/>
              <a:sym typeface="Georg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ro">
                <a:latin typeface="Georgia"/>
                <a:ea typeface="Georgia"/>
                <a:cs typeface="Georgia"/>
                <a:sym typeface="Georgia"/>
              </a:rPr>
              <a:t>Main idea</a:t>
            </a:r>
            <a:endParaRPr b="1">
              <a:latin typeface="Georgia"/>
              <a:ea typeface="Georgia"/>
              <a:cs typeface="Georgia"/>
              <a:sym typeface="Georgia"/>
            </a:endParaRPr>
          </a:p>
        </p:txBody>
      </p:sp>
      <p:sp>
        <p:nvSpPr>
          <p:cNvPr id="69" name="Google Shape;69;p1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ro">
                <a:latin typeface="Georgia"/>
                <a:ea typeface="Georgia"/>
                <a:cs typeface="Georgia"/>
                <a:sym typeface="Georgia"/>
              </a:rPr>
              <a:t>This project presents an overview of vector databases and their role in enabling semantic search over unstructured data. It explains how embeddings allow systems to capture meaning and perform similarity search, supporting applications such as search engines and recommendation systems. The report also covers key indexing techniques and shows how modern vector databases balance accuracy, speed, and memory efficiency.</a:t>
            </a:r>
            <a:endParaRPr>
              <a:latin typeface="Georgia"/>
              <a:ea typeface="Georgia"/>
              <a:cs typeface="Georgia"/>
              <a:sym typeface="Georgia"/>
            </a:endParaRPr>
          </a:p>
          <a:p>
            <a:pPr indent="0" lvl="0" marL="0" rtl="0" algn="l">
              <a:spcBef>
                <a:spcPts val="1200"/>
              </a:spcBef>
              <a:spcAft>
                <a:spcPts val="0"/>
              </a:spcAft>
              <a:buNone/>
            </a:pPr>
            <a:r>
              <a:rPr lang="ro">
                <a:latin typeface="Georgia"/>
                <a:ea typeface="Georgia"/>
                <a:cs typeface="Georgia"/>
                <a:sym typeface="Georgia"/>
              </a:rPr>
              <a:t>In addition, the project focuses on the integration of vector databases into AI pipelines, particularly in combination with large language models through retrieval-augmented generation (RAG). Recent trends such as semantic compression, graph-augmented retrieval, hybrid search, and multimodal embeddings are highlighted, showing how these approaches improve performance and support multiple data types.</a:t>
            </a:r>
            <a:endParaRPr>
              <a:latin typeface="Georgia"/>
              <a:ea typeface="Georgia"/>
              <a:cs typeface="Georgia"/>
              <a:sym typeface="Georgia"/>
            </a:endParaRPr>
          </a:p>
          <a:p>
            <a:pPr indent="0" lvl="0" marL="0" rtl="0" algn="l">
              <a:spcBef>
                <a:spcPts val="1200"/>
              </a:spcBef>
              <a:spcAft>
                <a:spcPts val="1200"/>
              </a:spcAft>
              <a:buNone/>
            </a:pPr>
            <a:r>
              <a:rPr lang="ro">
                <a:latin typeface="Georgia"/>
                <a:ea typeface="Georgia"/>
                <a:cs typeface="Georgia"/>
                <a:sym typeface="Georgia"/>
              </a:rPr>
              <a:t>Finally, future research directions are outlined, including self-updating indexes, hardware acceleration, and scalable architectures. Overall, vector databases are presented as a core component of modern AI systems, enabling efficient and meaningful use of large-scale unstructured data.</a:t>
            </a:r>
            <a:endParaRPr>
              <a:latin typeface="Georgia"/>
              <a:ea typeface="Georgia"/>
              <a:cs typeface="Georgia"/>
              <a:sym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174075" y="674900"/>
            <a:ext cx="4045200" cy="1789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b="1" lang="ro">
                <a:latin typeface="Georgia"/>
                <a:ea typeface="Georgia"/>
                <a:cs typeface="Georgia"/>
                <a:sym typeface="Georgia"/>
              </a:rPr>
              <a:t>Demo Semantic Compression</a:t>
            </a:r>
            <a:endParaRPr b="1">
              <a:latin typeface="Georgia"/>
              <a:ea typeface="Georgia"/>
              <a:cs typeface="Georgia"/>
              <a:sym typeface="Georgia"/>
            </a:endParaRPr>
          </a:p>
        </p:txBody>
      </p:sp>
      <p:sp>
        <p:nvSpPr>
          <p:cNvPr id="75" name="Google Shape;75;p15"/>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ro">
                <a:latin typeface="Georgia"/>
                <a:ea typeface="Georgia"/>
                <a:cs typeface="Georgia"/>
                <a:sym typeface="Georgia"/>
              </a:rPr>
              <a:t>Video with demo for semantic compression available </a:t>
            </a:r>
            <a:r>
              <a:rPr lang="ro" u="sng">
                <a:solidFill>
                  <a:schemeClr val="dk1"/>
                </a:solidFill>
                <a:highlight>
                  <a:srgbClr val="CFE2F3"/>
                </a:highlight>
                <a:latin typeface="Georgia"/>
                <a:ea typeface="Georgia"/>
                <a:cs typeface="Georgia"/>
                <a:sym typeface="Georgia"/>
                <a:hlinkClick r:id="rId3">
                  <a:extLst>
                    <a:ext uri="{A12FA001-AC4F-418D-AE19-62706E023703}">
                      <ahyp:hlinkClr val="tx"/>
                    </a:ext>
                  </a:extLst>
                </a:hlinkClick>
              </a:rPr>
              <a:t>HERE</a:t>
            </a:r>
            <a:r>
              <a:rPr lang="ro">
                <a:latin typeface="Georgia"/>
                <a:ea typeface="Georgia"/>
                <a:cs typeface="Georgia"/>
                <a:sym typeface="Georgia"/>
              </a:rPr>
              <a:t>.</a:t>
            </a:r>
            <a:endParaRPr>
              <a:latin typeface="Georgia"/>
              <a:ea typeface="Georgia"/>
              <a:cs typeface="Georgia"/>
              <a:sym typeface="Georgia"/>
            </a:endParaRPr>
          </a:p>
          <a:p>
            <a:pPr indent="0" lvl="0" marL="0" rtl="0" algn="ctr">
              <a:spcBef>
                <a:spcPts val="0"/>
              </a:spcBef>
              <a:spcAft>
                <a:spcPts val="0"/>
              </a:spcAft>
              <a:buNone/>
            </a:pPr>
            <a:r>
              <a:t/>
            </a:r>
            <a:endParaRPr>
              <a:latin typeface="Georgia"/>
              <a:ea typeface="Georgia"/>
              <a:cs typeface="Georgia"/>
              <a:sym typeface="Georgia"/>
            </a:endParaRPr>
          </a:p>
          <a:p>
            <a:pPr indent="0" lvl="0" marL="0" rtl="0" algn="ctr">
              <a:spcBef>
                <a:spcPts val="0"/>
              </a:spcBef>
              <a:spcAft>
                <a:spcPts val="0"/>
              </a:spcAft>
              <a:buNone/>
            </a:pPr>
            <a:r>
              <a:rPr lang="ro">
                <a:latin typeface="Georgia"/>
                <a:ea typeface="Georgia"/>
                <a:cs typeface="Georgia"/>
                <a:sym typeface="Georgia"/>
              </a:rPr>
              <a:t>Code for demo implementation available </a:t>
            </a:r>
            <a:r>
              <a:rPr lang="ro" u="sng">
                <a:solidFill>
                  <a:schemeClr val="dk1"/>
                </a:solidFill>
                <a:highlight>
                  <a:srgbClr val="CFE2F3"/>
                </a:highlight>
                <a:latin typeface="Georgia"/>
                <a:ea typeface="Georgia"/>
                <a:cs typeface="Georgia"/>
                <a:sym typeface="Georgia"/>
                <a:hlinkClick r:id="rId4">
                  <a:extLst>
                    <a:ext uri="{A12FA001-AC4F-418D-AE19-62706E023703}">
                      <ahyp:hlinkClr val="tx"/>
                    </a:ext>
                  </a:extLst>
                </a:hlinkClick>
              </a:rPr>
              <a:t>HERE</a:t>
            </a:r>
            <a:r>
              <a:rPr lang="ro">
                <a:latin typeface="Georgia"/>
                <a:ea typeface="Georgia"/>
                <a:cs typeface="Georgia"/>
                <a:sym typeface="Georgia"/>
              </a:rPr>
              <a:t>.</a:t>
            </a:r>
            <a:endParaRPr>
              <a:latin typeface="Georgia"/>
              <a:ea typeface="Georgia"/>
              <a:cs typeface="Georgia"/>
              <a:sym typeface="Georgia"/>
            </a:endParaRPr>
          </a:p>
        </p:txBody>
      </p:sp>
      <p:sp>
        <p:nvSpPr>
          <p:cNvPr id="76" name="Google Shape;76;p15"/>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fontScale="70000" lnSpcReduction="20000"/>
          </a:bodyPr>
          <a:lstStyle/>
          <a:p>
            <a:pPr indent="0" lvl="0" marL="0" rtl="0" algn="l">
              <a:spcBef>
                <a:spcPts val="0"/>
              </a:spcBef>
              <a:spcAft>
                <a:spcPts val="0"/>
              </a:spcAft>
              <a:buNone/>
            </a:pPr>
            <a:r>
              <a:rPr lang="ro">
                <a:latin typeface="Georgia"/>
                <a:ea typeface="Georgia"/>
                <a:cs typeface="Georgia"/>
                <a:sym typeface="Georgia"/>
              </a:rPr>
              <a:t>Inspired by the ideas presented in the “Beyond Nearest Neighbors” article, I also implemented a small-scale semantic search system using open-source tools.</a:t>
            </a:r>
            <a:endParaRPr>
              <a:latin typeface="Georgia"/>
              <a:ea typeface="Georgia"/>
              <a:cs typeface="Georgia"/>
              <a:sym typeface="Georgia"/>
            </a:endParaRPr>
          </a:p>
          <a:p>
            <a:pPr indent="0" lvl="0" marL="0" rtl="0" algn="l">
              <a:spcBef>
                <a:spcPts val="1200"/>
              </a:spcBef>
              <a:spcAft>
                <a:spcPts val="0"/>
              </a:spcAft>
              <a:buNone/>
            </a:pPr>
            <a:r>
              <a:rPr lang="ro">
                <a:latin typeface="Georgia"/>
                <a:ea typeface="Georgia"/>
                <a:cs typeface="Georgia"/>
                <a:sym typeface="Georgia"/>
              </a:rPr>
              <a:t>Text data is loaded from a .csv file (AG News dataset from Kaggle). Sentence embeddings are generated using the pretrained all-MiniLM-L6-v2 model from HuggingFace (384 dimensions). Embeddings are then compressed using PCA to lower dimensions (64D and 32D) while preserving semantic information. Semantic search is performed on full embeddings and compressed embeddings for comparison.</a:t>
            </a:r>
            <a:endParaRPr>
              <a:latin typeface="Georgia"/>
              <a:ea typeface="Georgia"/>
              <a:cs typeface="Georgia"/>
              <a:sym typeface="Georgia"/>
            </a:endParaRPr>
          </a:p>
          <a:p>
            <a:pPr indent="0" lvl="0" marL="0" rtl="0" algn="l">
              <a:spcBef>
                <a:spcPts val="1200"/>
              </a:spcBef>
              <a:spcAft>
                <a:spcPts val="1200"/>
              </a:spcAft>
              <a:buNone/>
            </a:pPr>
            <a:r>
              <a:rPr lang="ro">
                <a:latin typeface="Georgia"/>
                <a:ea typeface="Georgia"/>
                <a:cs typeface="Georgia"/>
                <a:sym typeface="Georgia"/>
              </a:rPr>
              <a:t>This experiment aims to show that compressed embeddings can still support meaningful semantic search while reducing vector size and improving efficiency.</a:t>
            </a:r>
            <a:endParaRPr>
              <a:latin typeface="Georgia"/>
              <a:ea typeface="Georgia"/>
              <a:cs typeface="Georgia"/>
              <a:sym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ro">
                <a:latin typeface="Georgia"/>
                <a:ea typeface="Georgia"/>
                <a:cs typeface="Georgia"/>
                <a:sym typeface="Georgia"/>
              </a:rPr>
              <a:t>Demo Flow &amp; Implementation Details</a:t>
            </a:r>
            <a:endParaRPr b="1">
              <a:latin typeface="Georgia"/>
              <a:ea typeface="Georgia"/>
              <a:cs typeface="Georgia"/>
              <a:sym typeface="Georgia"/>
            </a:endParaRPr>
          </a:p>
        </p:txBody>
      </p:sp>
      <p:sp>
        <p:nvSpPr>
          <p:cNvPr id="82" name="Google Shape;82;p16"/>
          <p:cNvSpPr txBox="1"/>
          <p:nvPr>
            <p:ph idx="2" type="body"/>
          </p:nvPr>
        </p:nvSpPr>
        <p:spPr>
          <a:xfrm>
            <a:off x="4451400" y="1359225"/>
            <a:ext cx="3770700" cy="34368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Clr>
                <a:schemeClr val="dk2"/>
              </a:buClr>
              <a:buSzPts val="1300"/>
              <a:buFont typeface="Georgia"/>
              <a:buChar char="➔"/>
            </a:pPr>
            <a:r>
              <a:rPr b="1" lang="ro" sz="1300">
                <a:highlight>
                  <a:schemeClr val="lt1"/>
                </a:highlight>
                <a:latin typeface="Georgia"/>
                <a:ea typeface="Georgia"/>
                <a:cs typeface="Georgia"/>
                <a:sym typeface="Georgia"/>
              </a:rPr>
              <a:t>Dataset:</a:t>
            </a:r>
            <a:r>
              <a:rPr lang="ro" sz="1300">
                <a:highlight>
                  <a:schemeClr val="lt1"/>
                </a:highlight>
                <a:latin typeface="Georgia"/>
                <a:ea typeface="Georgia"/>
                <a:cs typeface="Georgia"/>
                <a:sym typeface="Georgia"/>
              </a:rPr>
              <a:t> </a:t>
            </a:r>
            <a:endParaRPr sz="1300">
              <a:highlight>
                <a:schemeClr val="lt1"/>
              </a:highlight>
              <a:latin typeface="Georgia"/>
              <a:ea typeface="Georgia"/>
              <a:cs typeface="Georgia"/>
              <a:sym typeface="Georgia"/>
            </a:endParaRPr>
          </a:p>
          <a:p>
            <a:pPr indent="-311150" lvl="0" marL="457200" rtl="0" algn="l">
              <a:spcBef>
                <a:spcPts val="0"/>
              </a:spcBef>
              <a:spcAft>
                <a:spcPts val="0"/>
              </a:spcAft>
              <a:buClr>
                <a:srgbClr val="F0F6FC"/>
              </a:buClr>
              <a:buSzPts val="1300"/>
              <a:buFont typeface="Georgia"/>
              <a:buChar char="➔"/>
            </a:pPr>
            <a:r>
              <a:rPr lang="ro" sz="1300">
                <a:highlight>
                  <a:schemeClr val="lt1"/>
                </a:highlight>
                <a:latin typeface="Georgia"/>
                <a:ea typeface="Georgia"/>
                <a:cs typeface="Georgia"/>
                <a:sym typeface="Georgia"/>
              </a:rPr>
              <a:t>AG News dataset from Kaggle (first 500 documents used in demo), access it </a:t>
            </a:r>
            <a:r>
              <a:rPr lang="ro" sz="1300" u="sng">
                <a:highlight>
                  <a:schemeClr val="lt1"/>
                </a:highlight>
                <a:latin typeface="Georgia"/>
                <a:ea typeface="Georgia"/>
                <a:cs typeface="Georgia"/>
                <a:sym typeface="Georgia"/>
                <a:hlinkClick r:id="rId3"/>
              </a:rPr>
              <a:t>here</a:t>
            </a:r>
            <a:r>
              <a:rPr lang="ro" sz="1300" u="sng">
                <a:highlight>
                  <a:schemeClr val="lt1"/>
                </a:highlight>
                <a:latin typeface="Georgia"/>
                <a:ea typeface="Georgia"/>
                <a:cs typeface="Georgia"/>
                <a:sym typeface="Georgia"/>
              </a:rPr>
              <a:t>.</a:t>
            </a:r>
            <a:endParaRPr sz="1300" u="sng">
              <a:highlight>
                <a:schemeClr val="lt1"/>
              </a:highlight>
              <a:latin typeface="Georgia"/>
              <a:ea typeface="Georgia"/>
              <a:cs typeface="Georgia"/>
              <a:sym typeface="Georgia"/>
            </a:endParaRPr>
          </a:p>
          <a:p>
            <a:pPr indent="-311150" lvl="0" marL="457200" rtl="0" algn="l">
              <a:spcBef>
                <a:spcPts val="0"/>
              </a:spcBef>
              <a:spcAft>
                <a:spcPts val="0"/>
              </a:spcAft>
              <a:buClr>
                <a:srgbClr val="F0F6FC"/>
              </a:buClr>
              <a:buSzPts val="1300"/>
              <a:buFont typeface="Georgia"/>
              <a:buChar char="➔"/>
            </a:pPr>
            <a:r>
              <a:t/>
            </a:r>
            <a:endParaRPr sz="1300" u="sng">
              <a:highlight>
                <a:schemeClr val="lt1"/>
              </a:highlight>
              <a:latin typeface="Georgia"/>
              <a:ea typeface="Georgia"/>
              <a:cs typeface="Georgia"/>
              <a:sym typeface="Georgia"/>
            </a:endParaRPr>
          </a:p>
          <a:p>
            <a:pPr indent="-311150" lvl="0" marL="457200" rtl="0" algn="l">
              <a:spcBef>
                <a:spcPts val="300"/>
              </a:spcBef>
              <a:spcAft>
                <a:spcPts val="0"/>
              </a:spcAft>
              <a:buClr>
                <a:schemeClr val="dk2"/>
              </a:buClr>
              <a:buSzPts val="1300"/>
              <a:buFont typeface="Georgia"/>
              <a:buChar char="➔"/>
            </a:pPr>
            <a:r>
              <a:rPr b="1" lang="ro" sz="1300">
                <a:highlight>
                  <a:schemeClr val="lt1"/>
                </a:highlight>
                <a:latin typeface="Georgia"/>
                <a:ea typeface="Georgia"/>
                <a:cs typeface="Georgia"/>
                <a:sym typeface="Georgia"/>
              </a:rPr>
              <a:t>Columns used from dataset:</a:t>
            </a:r>
            <a:r>
              <a:rPr lang="ro" sz="1300">
                <a:highlight>
                  <a:schemeClr val="lt1"/>
                </a:highlight>
                <a:latin typeface="Georgia"/>
                <a:ea typeface="Georgia"/>
                <a:cs typeface="Georgia"/>
                <a:sym typeface="Georgia"/>
              </a:rPr>
              <a:t> </a:t>
            </a:r>
            <a:endParaRPr sz="1300">
              <a:highlight>
                <a:schemeClr val="lt1"/>
              </a:highlight>
              <a:latin typeface="Georgia"/>
              <a:ea typeface="Georgia"/>
              <a:cs typeface="Georgia"/>
              <a:sym typeface="Georgia"/>
            </a:endParaRPr>
          </a:p>
          <a:p>
            <a:pPr indent="0" lvl="0" marL="457200" rtl="0" algn="l">
              <a:spcBef>
                <a:spcPts val="0"/>
              </a:spcBef>
              <a:spcAft>
                <a:spcPts val="0"/>
              </a:spcAft>
              <a:buNone/>
            </a:pPr>
            <a:r>
              <a:rPr lang="ro" sz="1300">
                <a:highlight>
                  <a:schemeClr val="lt1"/>
                </a:highlight>
                <a:latin typeface="Georgia"/>
                <a:ea typeface="Georgia"/>
                <a:cs typeface="Georgia"/>
                <a:sym typeface="Georgia"/>
              </a:rPr>
              <a:t>Description (text)</a:t>
            </a:r>
            <a:endParaRPr sz="1300">
              <a:highlight>
                <a:schemeClr val="lt1"/>
              </a:highlight>
              <a:latin typeface="Georgia"/>
              <a:ea typeface="Georgia"/>
              <a:cs typeface="Georgia"/>
              <a:sym typeface="Georgia"/>
            </a:endParaRPr>
          </a:p>
          <a:p>
            <a:pPr indent="-311150" lvl="0" marL="457200" rtl="0" algn="l">
              <a:spcBef>
                <a:spcPts val="1200"/>
              </a:spcBef>
              <a:spcAft>
                <a:spcPts val="0"/>
              </a:spcAft>
              <a:buClr>
                <a:srgbClr val="F0F6FC"/>
              </a:buClr>
              <a:buSzPts val="1300"/>
              <a:buFont typeface="Georgia"/>
              <a:buChar char="➔"/>
            </a:pPr>
            <a:r>
              <a:t/>
            </a:r>
            <a:endParaRPr sz="1300">
              <a:highlight>
                <a:schemeClr val="lt1"/>
              </a:highlight>
              <a:latin typeface="Georgia"/>
              <a:ea typeface="Georgia"/>
              <a:cs typeface="Georgia"/>
              <a:sym typeface="Georgia"/>
            </a:endParaRPr>
          </a:p>
          <a:p>
            <a:pPr indent="-311150" lvl="0" marL="457200" rtl="0" algn="l">
              <a:spcBef>
                <a:spcPts val="300"/>
              </a:spcBef>
              <a:spcAft>
                <a:spcPts val="0"/>
              </a:spcAft>
              <a:buClr>
                <a:schemeClr val="dk2"/>
              </a:buClr>
              <a:buSzPts val="1300"/>
              <a:buFont typeface="Georgia"/>
              <a:buChar char="➔"/>
            </a:pPr>
            <a:r>
              <a:rPr b="1" lang="ro" sz="1300">
                <a:highlight>
                  <a:schemeClr val="lt1"/>
                </a:highlight>
                <a:latin typeface="Georgia"/>
                <a:ea typeface="Georgia"/>
                <a:cs typeface="Georgia"/>
                <a:sym typeface="Georgia"/>
              </a:rPr>
              <a:t>Embedding representation:</a:t>
            </a:r>
            <a:endParaRPr b="1" sz="1300">
              <a:highlight>
                <a:schemeClr val="lt1"/>
              </a:highlight>
              <a:latin typeface="Georgia"/>
              <a:ea typeface="Georgia"/>
              <a:cs typeface="Georgia"/>
              <a:sym typeface="Georgia"/>
            </a:endParaRPr>
          </a:p>
          <a:p>
            <a:pPr indent="0" lvl="0" marL="457200" rtl="0" algn="l">
              <a:spcBef>
                <a:spcPts val="300"/>
              </a:spcBef>
              <a:spcAft>
                <a:spcPts val="0"/>
              </a:spcAft>
              <a:buNone/>
            </a:pPr>
            <a:r>
              <a:rPr b="1" lang="ro" sz="1300">
                <a:highlight>
                  <a:schemeClr val="lt1"/>
                </a:highlight>
                <a:latin typeface="Georgia"/>
                <a:ea typeface="Georgia"/>
                <a:cs typeface="Georgia"/>
                <a:sym typeface="Georgia"/>
              </a:rPr>
              <a:t> </a:t>
            </a:r>
            <a:r>
              <a:rPr lang="ro" sz="1300">
                <a:highlight>
                  <a:schemeClr val="lt1"/>
                </a:highlight>
                <a:latin typeface="Georgia"/>
                <a:ea typeface="Georgia"/>
                <a:cs typeface="Georgia"/>
                <a:sym typeface="Georgia"/>
              </a:rPr>
              <a:t>384D full embeddings, 64D and 32D compressed embeddings (compressed using model </a:t>
            </a:r>
            <a:r>
              <a:rPr lang="ro" sz="1300" u="sng">
                <a:highlight>
                  <a:schemeClr val="lt1"/>
                </a:highlight>
                <a:latin typeface="Georgia"/>
                <a:ea typeface="Georgia"/>
                <a:cs typeface="Georgia"/>
                <a:sym typeface="Georgia"/>
                <a:hlinkClick r:id="rId4"/>
              </a:rPr>
              <a:t>all-MiniLM-L6-v2</a:t>
            </a:r>
            <a:r>
              <a:rPr lang="ro" sz="1300">
                <a:highlight>
                  <a:schemeClr val="lt1"/>
                </a:highlight>
                <a:latin typeface="Georgia"/>
                <a:ea typeface="Georgia"/>
                <a:cs typeface="Georgia"/>
                <a:sym typeface="Georgia"/>
              </a:rPr>
              <a:t>)</a:t>
            </a:r>
            <a:endParaRPr sz="1300">
              <a:highlight>
                <a:schemeClr val="lt1"/>
              </a:highlight>
              <a:latin typeface="Georgia"/>
              <a:ea typeface="Georgia"/>
              <a:cs typeface="Georgia"/>
              <a:sym typeface="Georgia"/>
            </a:endParaRPr>
          </a:p>
          <a:p>
            <a:pPr indent="0" lvl="0" marL="0" rtl="0" algn="l">
              <a:spcBef>
                <a:spcPts val="1200"/>
              </a:spcBef>
              <a:spcAft>
                <a:spcPts val="1200"/>
              </a:spcAft>
              <a:buNone/>
            </a:pPr>
            <a:r>
              <a:t/>
            </a:r>
            <a:endParaRPr sz="1500">
              <a:highlight>
                <a:schemeClr val="lt1"/>
              </a:highlight>
              <a:latin typeface="Georgia"/>
              <a:ea typeface="Georgia"/>
              <a:cs typeface="Georgia"/>
              <a:sym typeface="Georgia"/>
            </a:endParaRPr>
          </a:p>
        </p:txBody>
      </p:sp>
      <p:pic>
        <p:nvPicPr>
          <p:cNvPr id="83" name="Google Shape;83;p16"/>
          <p:cNvPicPr preferRelativeResize="0"/>
          <p:nvPr/>
        </p:nvPicPr>
        <p:blipFill>
          <a:blip r:embed="rId5">
            <a:alphaModFix/>
          </a:blip>
          <a:stretch>
            <a:fillRect/>
          </a:stretch>
        </p:blipFill>
        <p:spPr>
          <a:xfrm>
            <a:off x="1195632" y="1278375"/>
            <a:ext cx="3040118" cy="3674675"/>
          </a:xfrm>
          <a:prstGeom prst="rect">
            <a:avLst/>
          </a:prstGeom>
          <a:noFill/>
          <a:ln cap="flat" cmpd="sng" w="28575">
            <a:solidFill>
              <a:schemeClr val="dk1"/>
            </a:solidFill>
            <a:prstDash val="solid"/>
            <a:round/>
            <a:headEnd len="sm" w="sm" type="none"/>
            <a:tailEnd len="sm" w="sm" type="none"/>
          </a:ln>
        </p:spPr>
      </p:pic>
      <p:sp>
        <p:nvSpPr>
          <p:cNvPr id="84" name="Google Shape;84;p16"/>
          <p:cNvSpPr txBox="1"/>
          <p:nvPr/>
        </p:nvSpPr>
        <p:spPr>
          <a:xfrm rot="-5400000">
            <a:off x="-194450" y="2000925"/>
            <a:ext cx="1745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o" sz="1800">
                <a:solidFill>
                  <a:schemeClr val="dk2"/>
                </a:solidFill>
                <a:latin typeface="Georgia"/>
                <a:ea typeface="Georgia"/>
                <a:cs typeface="Georgia"/>
                <a:sym typeface="Georgia"/>
              </a:rPr>
              <a:t>Architecture</a:t>
            </a:r>
            <a:endParaRPr b="1" sz="1800">
              <a:solidFill>
                <a:schemeClr val="dk2"/>
              </a:solidFill>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ro">
                <a:latin typeface="Georgia"/>
                <a:ea typeface="Georgia"/>
                <a:cs typeface="Georgia"/>
                <a:sym typeface="Georgia"/>
              </a:rPr>
              <a:t>Research Key Ideas</a:t>
            </a:r>
            <a:endParaRPr b="1">
              <a:latin typeface="Georgia"/>
              <a:ea typeface="Georgia"/>
              <a:cs typeface="Georgia"/>
              <a:sym typeface="Georgia"/>
            </a:endParaRPr>
          </a:p>
        </p:txBody>
      </p:sp>
      <p:sp>
        <p:nvSpPr>
          <p:cNvPr id="90" name="Google Shape;90;p17"/>
          <p:cNvSpPr/>
          <p:nvPr/>
        </p:nvSpPr>
        <p:spPr>
          <a:xfrm>
            <a:off x="350525" y="1417325"/>
            <a:ext cx="3924300" cy="3322200"/>
          </a:xfrm>
          <a:prstGeom prst="foldedCorner">
            <a:avLst>
              <a:gd fmla="val 16667"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t/>
            </a:r>
            <a:endParaRPr sz="1600">
              <a:solidFill>
                <a:schemeClr val="lt1"/>
              </a:solidFill>
              <a:highlight>
                <a:schemeClr val="dk1"/>
              </a:highlight>
              <a:latin typeface="Georgia"/>
              <a:ea typeface="Georgia"/>
              <a:cs typeface="Georgia"/>
              <a:sym typeface="Georgia"/>
            </a:endParaRPr>
          </a:p>
          <a:p>
            <a:pPr indent="-330200" lvl="0" marL="457200" rtl="0" algn="l">
              <a:lnSpc>
                <a:spcPct val="115000"/>
              </a:lnSpc>
              <a:spcBef>
                <a:spcPts val="1200"/>
              </a:spcBef>
              <a:spcAft>
                <a:spcPts val="0"/>
              </a:spcAft>
              <a:buClr>
                <a:schemeClr val="lt1"/>
              </a:buClr>
              <a:buSzPts val="1600"/>
              <a:buFont typeface="Georgia"/>
              <a:buChar char="●"/>
            </a:pPr>
            <a:r>
              <a:rPr b="1" lang="ro" sz="1600">
                <a:solidFill>
                  <a:schemeClr val="lt1"/>
                </a:solidFill>
                <a:highlight>
                  <a:schemeClr val="dk1"/>
                </a:highlight>
                <a:latin typeface="Georgia"/>
                <a:ea typeface="Georgia"/>
                <a:cs typeface="Georgia"/>
                <a:sym typeface="Georgia"/>
              </a:rPr>
              <a:t>Keyword search </a:t>
            </a:r>
            <a:r>
              <a:rPr lang="ro" sz="1600">
                <a:solidFill>
                  <a:schemeClr val="lt1"/>
                </a:solidFill>
                <a:highlight>
                  <a:schemeClr val="dk1"/>
                </a:highlight>
                <a:latin typeface="Georgia"/>
                <a:ea typeface="Georgia"/>
                <a:cs typeface="Georgia"/>
                <a:sym typeface="Georgia"/>
              </a:rPr>
              <a:t>fails to capture meaning or context.</a:t>
            </a:r>
            <a:endParaRPr sz="1600">
              <a:solidFill>
                <a:schemeClr val="lt1"/>
              </a:solidFill>
              <a:highlight>
                <a:schemeClr val="dk1"/>
              </a:highlight>
              <a:latin typeface="Georgia"/>
              <a:ea typeface="Georgia"/>
              <a:cs typeface="Georgia"/>
              <a:sym typeface="Georgia"/>
            </a:endParaRPr>
          </a:p>
          <a:p>
            <a:pPr indent="-330200" lvl="0" marL="457200" rtl="0" algn="l">
              <a:lnSpc>
                <a:spcPct val="115000"/>
              </a:lnSpc>
              <a:spcBef>
                <a:spcPts val="0"/>
              </a:spcBef>
              <a:spcAft>
                <a:spcPts val="0"/>
              </a:spcAft>
              <a:buClr>
                <a:schemeClr val="lt1"/>
              </a:buClr>
              <a:buSzPts val="1600"/>
              <a:buFont typeface="Georgia"/>
              <a:buChar char="●"/>
            </a:pPr>
            <a:r>
              <a:rPr b="1" lang="ro" sz="1600">
                <a:solidFill>
                  <a:schemeClr val="lt1"/>
                </a:solidFill>
                <a:highlight>
                  <a:schemeClr val="dk1"/>
                </a:highlight>
                <a:latin typeface="Georgia"/>
                <a:ea typeface="Georgia"/>
                <a:cs typeface="Georgia"/>
                <a:sym typeface="Georgia"/>
              </a:rPr>
              <a:t>Semantic search</a:t>
            </a:r>
            <a:r>
              <a:rPr lang="ro" sz="1600">
                <a:solidFill>
                  <a:schemeClr val="lt1"/>
                </a:solidFill>
                <a:highlight>
                  <a:schemeClr val="dk1"/>
                </a:highlight>
                <a:latin typeface="Georgia"/>
                <a:ea typeface="Georgia"/>
                <a:cs typeface="Georgia"/>
                <a:sym typeface="Georgia"/>
              </a:rPr>
              <a:t> uses embeddings to compare meaning, not only words.</a:t>
            </a:r>
            <a:endParaRPr sz="1600">
              <a:solidFill>
                <a:schemeClr val="lt1"/>
              </a:solidFill>
              <a:highlight>
                <a:schemeClr val="dk1"/>
              </a:highlight>
              <a:latin typeface="Georgia"/>
              <a:ea typeface="Georgia"/>
              <a:cs typeface="Georgia"/>
              <a:sym typeface="Georgia"/>
            </a:endParaRPr>
          </a:p>
          <a:p>
            <a:pPr indent="-330200" lvl="0" marL="457200" rtl="0" algn="l">
              <a:lnSpc>
                <a:spcPct val="115000"/>
              </a:lnSpc>
              <a:spcBef>
                <a:spcPts val="0"/>
              </a:spcBef>
              <a:spcAft>
                <a:spcPts val="0"/>
              </a:spcAft>
              <a:buClr>
                <a:schemeClr val="lt1"/>
              </a:buClr>
              <a:buSzPts val="1600"/>
              <a:buFont typeface="Georgia"/>
              <a:buChar char="●"/>
            </a:pPr>
            <a:r>
              <a:rPr b="1" lang="ro" sz="1600">
                <a:solidFill>
                  <a:schemeClr val="lt1"/>
                </a:solidFill>
                <a:highlight>
                  <a:schemeClr val="dk1"/>
                </a:highlight>
                <a:latin typeface="Georgia"/>
                <a:ea typeface="Georgia"/>
                <a:cs typeface="Georgia"/>
                <a:sym typeface="Georgia"/>
              </a:rPr>
              <a:t>Vector databases</a:t>
            </a:r>
            <a:r>
              <a:rPr lang="ro" sz="1600">
                <a:solidFill>
                  <a:schemeClr val="lt1"/>
                </a:solidFill>
                <a:highlight>
                  <a:schemeClr val="dk1"/>
                </a:highlight>
                <a:latin typeface="Georgia"/>
                <a:ea typeface="Georgia"/>
                <a:cs typeface="Georgia"/>
                <a:sym typeface="Georgia"/>
              </a:rPr>
              <a:t> store high-dimensional embeddings efficiently and allow fast and scalable similarity search.</a:t>
            </a:r>
            <a:endParaRPr>
              <a:latin typeface="Source Code Pro"/>
              <a:ea typeface="Source Code Pro"/>
              <a:cs typeface="Source Code Pro"/>
              <a:sym typeface="Source Code Pro"/>
            </a:endParaRPr>
          </a:p>
        </p:txBody>
      </p:sp>
      <p:sp>
        <p:nvSpPr>
          <p:cNvPr id="91" name="Google Shape;91;p17"/>
          <p:cNvSpPr/>
          <p:nvPr/>
        </p:nvSpPr>
        <p:spPr>
          <a:xfrm>
            <a:off x="4792975" y="434350"/>
            <a:ext cx="3924300" cy="4305300"/>
          </a:xfrm>
          <a:prstGeom prst="foldedCorner">
            <a:avLst>
              <a:gd fmla="val 16667"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t/>
            </a:r>
            <a:endParaRPr sz="1600">
              <a:solidFill>
                <a:schemeClr val="lt1"/>
              </a:solidFill>
              <a:highlight>
                <a:schemeClr val="dk1"/>
              </a:highlight>
              <a:latin typeface="Georgia"/>
              <a:ea typeface="Georgia"/>
              <a:cs typeface="Georgia"/>
              <a:sym typeface="Georgia"/>
            </a:endParaRPr>
          </a:p>
          <a:p>
            <a:pPr indent="-330200" lvl="0" marL="457200" rtl="0" algn="l">
              <a:lnSpc>
                <a:spcPct val="115000"/>
              </a:lnSpc>
              <a:spcBef>
                <a:spcPts val="1200"/>
              </a:spcBef>
              <a:spcAft>
                <a:spcPts val="0"/>
              </a:spcAft>
              <a:buClr>
                <a:schemeClr val="lt1"/>
              </a:buClr>
              <a:buSzPts val="1600"/>
              <a:buFont typeface="Georgia"/>
              <a:buChar char="●"/>
            </a:pPr>
            <a:r>
              <a:rPr b="1" lang="ro" sz="1600">
                <a:solidFill>
                  <a:schemeClr val="lt1"/>
                </a:solidFill>
                <a:highlight>
                  <a:schemeClr val="dk1"/>
                </a:highlight>
                <a:latin typeface="Georgia"/>
                <a:ea typeface="Georgia"/>
                <a:cs typeface="Georgia"/>
                <a:sym typeface="Georgia"/>
              </a:rPr>
              <a:t>Embeddings</a:t>
            </a:r>
            <a:r>
              <a:rPr lang="ro" sz="1600">
                <a:solidFill>
                  <a:schemeClr val="lt1"/>
                </a:solidFill>
                <a:highlight>
                  <a:schemeClr val="dk1"/>
                </a:highlight>
                <a:latin typeface="Georgia"/>
                <a:ea typeface="Georgia"/>
                <a:cs typeface="Georgia"/>
                <a:sym typeface="Georgia"/>
              </a:rPr>
              <a:t> turn text (or images/audio) into numerical vectors</a:t>
            </a:r>
            <a:r>
              <a:rPr lang="ro" sz="1600">
                <a:solidFill>
                  <a:schemeClr val="lt1"/>
                </a:solidFill>
                <a:highlight>
                  <a:schemeClr val="dk1"/>
                </a:highlight>
                <a:latin typeface="Georgia"/>
                <a:ea typeface="Georgia"/>
                <a:cs typeface="Georgia"/>
                <a:sym typeface="Georgia"/>
              </a:rPr>
              <a:t>.</a:t>
            </a:r>
            <a:endParaRPr sz="1600">
              <a:solidFill>
                <a:schemeClr val="lt1"/>
              </a:solidFill>
              <a:highlight>
                <a:schemeClr val="dk1"/>
              </a:highlight>
              <a:latin typeface="Georgia"/>
              <a:ea typeface="Georgia"/>
              <a:cs typeface="Georgia"/>
              <a:sym typeface="Georgia"/>
            </a:endParaRPr>
          </a:p>
          <a:p>
            <a:pPr indent="-330200" lvl="0" marL="457200" rtl="0" algn="l">
              <a:lnSpc>
                <a:spcPct val="115000"/>
              </a:lnSpc>
              <a:spcBef>
                <a:spcPts val="0"/>
              </a:spcBef>
              <a:spcAft>
                <a:spcPts val="0"/>
              </a:spcAft>
              <a:buClr>
                <a:schemeClr val="lt1"/>
              </a:buClr>
              <a:buSzPts val="1600"/>
              <a:buFont typeface="Georgia"/>
              <a:buChar char="●"/>
            </a:pPr>
            <a:r>
              <a:rPr lang="ro" sz="1600">
                <a:solidFill>
                  <a:schemeClr val="lt1"/>
                </a:solidFill>
                <a:highlight>
                  <a:schemeClr val="dk1"/>
                </a:highlight>
                <a:latin typeface="Georgia"/>
                <a:ea typeface="Georgia"/>
                <a:cs typeface="Georgia"/>
                <a:sym typeface="Georgia"/>
              </a:rPr>
              <a:t>Similarity is measured using different distance metrics.</a:t>
            </a:r>
            <a:endParaRPr sz="1600">
              <a:solidFill>
                <a:schemeClr val="lt1"/>
              </a:solidFill>
              <a:highlight>
                <a:schemeClr val="dk1"/>
              </a:highlight>
              <a:latin typeface="Georgia"/>
              <a:ea typeface="Georgia"/>
              <a:cs typeface="Georgia"/>
              <a:sym typeface="Georgia"/>
            </a:endParaRPr>
          </a:p>
          <a:p>
            <a:pPr indent="-330200" lvl="0" marL="457200" rtl="0" algn="l">
              <a:lnSpc>
                <a:spcPct val="115000"/>
              </a:lnSpc>
              <a:spcBef>
                <a:spcPts val="0"/>
              </a:spcBef>
              <a:spcAft>
                <a:spcPts val="0"/>
              </a:spcAft>
              <a:buClr>
                <a:schemeClr val="lt1"/>
              </a:buClr>
              <a:buSzPts val="1600"/>
              <a:buFont typeface="Georgia"/>
              <a:buChar char="●"/>
            </a:pPr>
            <a:r>
              <a:rPr lang="ro" sz="1600">
                <a:solidFill>
                  <a:schemeClr val="lt1"/>
                </a:solidFill>
                <a:highlight>
                  <a:schemeClr val="dk1"/>
                </a:highlight>
                <a:latin typeface="Georgia"/>
                <a:ea typeface="Georgia"/>
                <a:cs typeface="Georgia"/>
                <a:sym typeface="Georgia"/>
              </a:rPr>
              <a:t>Embeddings enable semantic search: they find items with the same meaning, even if the wording differs.</a:t>
            </a:r>
            <a:endParaRPr sz="1600">
              <a:solidFill>
                <a:schemeClr val="lt1"/>
              </a:solidFill>
              <a:highlight>
                <a:schemeClr val="dk1"/>
              </a:highlight>
              <a:latin typeface="Georgia"/>
              <a:ea typeface="Georgia"/>
              <a:cs typeface="Georgia"/>
              <a:sym typeface="Georgia"/>
            </a:endParaRPr>
          </a:p>
          <a:p>
            <a:pPr indent="-330200" lvl="0" marL="457200" rtl="0" algn="l">
              <a:lnSpc>
                <a:spcPct val="115000"/>
              </a:lnSpc>
              <a:spcBef>
                <a:spcPts val="0"/>
              </a:spcBef>
              <a:spcAft>
                <a:spcPts val="0"/>
              </a:spcAft>
              <a:buClr>
                <a:schemeClr val="lt1"/>
              </a:buClr>
              <a:buSzPts val="1600"/>
              <a:buFont typeface="Georgia"/>
              <a:buChar char="●"/>
            </a:pPr>
            <a:r>
              <a:rPr lang="ro" sz="1600">
                <a:solidFill>
                  <a:schemeClr val="lt1"/>
                </a:solidFill>
                <a:highlight>
                  <a:schemeClr val="dk1"/>
                </a:highlight>
                <a:latin typeface="Georgia"/>
                <a:ea typeface="Georgia"/>
                <a:cs typeface="Georgia"/>
                <a:sym typeface="Georgia"/>
              </a:rPr>
              <a:t>Embeddings are nowadays the key for search engines, recommendation systems and AI assistants.</a:t>
            </a:r>
            <a:endParaRPr>
              <a:latin typeface="Source Code Pro"/>
              <a:ea typeface="Source Code Pro"/>
              <a:cs typeface="Source Code Pro"/>
              <a:sym typeface="Source Code Pr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p:nvPr/>
        </p:nvSpPr>
        <p:spPr>
          <a:xfrm>
            <a:off x="4792975" y="434350"/>
            <a:ext cx="3924300" cy="4305300"/>
          </a:xfrm>
          <a:prstGeom prst="foldedCorner">
            <a:avLst>
              <a:gd fmla="val 16667"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t/>
            </a:r>
            <a:endParaRPr sz="1300">
              <a:solidFill>
                <a:schemeClr val="lt1"/>
              </a:solidFill>
              <a:highlight>
                <a:schemeClr val="dk1"/>
              </a:highlight>
              <a:latin typeface="Georgia"/>
              <a:ea typeface="Georgia"/>
              <a:cs typeface="Georgia"/>
              <a:sym typeface="Georgia"/>
            </a:endParaRPr>
          </a:p>
          <a:p>
            <a:pPr indent="0" lvl="0" marL="0" rtl="0" algn="l">
              <a:lnSpc>
                <a:spcPct val="115000"/>
              </a:lnSpc>
              <a:spcBef>
                <a:spcPts val="1200"/>
              </a:spcBef>
              <a:spcAft>
                <a:spcPts val="0"/>
              </a:spcAft>
              <a:buNone/>
            </a:pPr>
            <a:r>
              <a:rPr lang="ro" sz="1300">
                <a:solidFill>
                  <a:schemeClr val="lt1"/>
                </a:solidFill>
                <a:highlight>
                  <a:schemeClr val="dk1"/>
                </a:highlight>
                <a:latin typeface="Georgia"/>
                <a:ea typeface="Georgia"/>
                <a:cs typeface="Georgia"/>
                <a:sym typeface="Georgia"/>
              </a:rPr>
              <a:t>There are several trends &amp; applications, such as:</a:t>
            </a:r>
            <a:endParaRPr sz="1300">
              <a:solidFill>
                <a:schemeClr val="lt1"/>
              </a:solidFill>
              <a:highlight>
                <a:schemeClr val="dk1"/>
              </a:highlight>
              <a:latin typeface="Georgia"/>
              <a:ea typeface="Georgia"/>
              <a:cs typeface="Georgia"/>
              <a:sym typeface="Georgia"/>
            </a:endParaRPr>
          </a:p>
          <a:p>
            <a:pPr indent="-311150" lvl="0" marL="457200" rtl="0" algn="l">
              <a:lnSpc>
                <a:spcPct val="115000"/>
              </a:lnSpc>
              <a:spcBef>
                <a:spcPts val="1200"/>
              </a:spcBef>
              <a:spcAft>
                <a:spcPts val="0"/>
              </a:spcAft>
              <a:buClr>
                <a:schemeClr val="lt1"/>
              </a:buClr>
              <a:buSzPts val="1300"/>
              <a:buFont typeface="Georgia"/>
              <a:buChar char="●"/>
            </a:pPr>
            <a:r>
              <a:rPr b="1" lang="ro" sz="1300">
                <a:solidFill>
                  <a:schemeClr val="lt1"/>
                </a:solidFill>
                <a:highlight>
                  <a:schemeClr val="dk1"/>
                </a:highlight>
                <a:latin typeface="Georgia"/>
                <a:ea typeface="Georgia"/>
                <a:cs typeface="Georgia"/>
                <a:sym typeface="Georgia"/>
              </a:rPr>
              <a:t>Semantic compression</a:t>
            </a:r>
            <a:r>
              <a:rPr lang="ro" sz="1300">
                <a:solidFill>
                  <a:schemeClr val="lt1"/>
                </a:solidFill>
                <a:highlight>
                  <a:schemeClr val="dk1"/>
                </a:highlight>
                <a:latin typeface="Georgia"/>
                <a:ea typeface="Georgia"/>
                <a:cs typeface="Georgia"/>
                <a:sym typeface="Georgia"/>
              </a:rPr>
              <a:t>: smaller vectors with little loss in search quality.</a:t>
            </a:r>
            <a:endParaRPr sz="1300">
              <a:solidFill>
                <a:schemeClr val="lt1"/>
              </a:solidFill>
              <a:highlight>
                <a:schemeClr val="dk1"/>
              </a:highlight>
              <a:latin typeface="Georgia"/>
              <a:ea typeface="Georgia"/>
              <a:cs typeface="Georgia"/>
              <a:sym typeface="Georgia"/>
            </a:endParaRPr>
          </a:p>
          <a:p>
            <a:pPr indent="-311150" lvl="0" marL="457200" rtl="0" algn="l">
              <a:lnSpc>
                <a:spcPct val="115000"/>
              </a:lnSpc>
              <a:spcBef>
                <a:spcPts val="0"/>
              </a:spcBef>
              <a:spcAft>
                <a:spcPts val="0"/>
              </a:spcAft>
              <a:buClr>
                <a:schemeClr val="lt1"/>
              </a:buClr>
              <a:buSzPts val="1300"/>
              <a:buFont typeface="Georgia"/>
              <a:buChar char="●"/>
            </a:pPr>
            <a:r>
              <a:rPr b="1" lang="ro" sz="1300">
                <a:solidFill>
                  <a:schemeClr val="lt1"/>
                </a:solidFill>
                <a:highlight>
                  <a:schemeClr val="dk1"/>
                </a:highlight>
                <a:latin typeface="Georgia"/>
                <a:ea typeface="Georgia"/>
                <a:cs typeface="Georgia"/>
                <a:sym typeface="Georgia"/>
              </a:rPr>
              <a:t>Multimodal embeddings</a:t>
            </a:r>
            <a:r>
              <a:rPr lang="ro" sz="1300">
                <a:solidFill>
                  <a:schemeClr val="lt1"/>
                </a:solidFill>
                <a:highlight>
                  <a:schemeClr val="dk1"/>
                </a:highlight>
                <a:latin typeface="Georgia"/>
                <a:ea typeface="Georgia"/>
                <a:cs typeface="Georgia"/>
                <a:sym typeface="Georgia"/>
              </a:rPr>
              <a:t>: combine text, images, audio in one space.</a:t>
            </a:r>
            <a:endParaRPr sz="1300">
              <a:solidFill>
                <a:schemeClr val="lt1"/>
              </a:solidFill>
              <a:highlight>
                <a:schemeClr val="dk1"/>
              </a:highlight>
              <a:latin typeface="Georgia"/>
              <a:ea typeface="Georgia"/>
              <a:cs typeface="Georgia"/>
              <a:sym typeface="Georgia"/>
            </a:endParaRPr>
          </a:p>
          <a:p>
            <a:pPr indent="-311150" lvl="0" marL="457200" rtl="0" algn="l">
              <a:lnSpc>
                <a:spcPct val="115000"/>
              </a:lnSpc>
              <a:spcBef>
                <a:spcPts val="0"/>
              </a:spcBef>
              <a:spcAft>
                <a:spcPts val="0"/>
              </a:spcAft>
              <a:buClr>
                <a:schemeClr val="lt1"/>
              </a:buClr>
              <a:buSzPts val="1300"/>
              <a:buFont typeface="Georgia"/>
              <a:buChar char="●"/>
            </a:pPr>
            <a:r>
              <a:rPr b="1" lang="ro" sz="1300">
                <a:solidFill>
                  <a:schemeClr val="lt1"/>
                </a:solidFill>
                <a:highlight>
                  <a:schemeClr val="dk1"/>
                </a:highlight>
                <a:latin typeface="Georgia"/>
                <a:ea typeface="Georgia"/>
                <a:cs typeface="Georgia"/>
                <a:sym typeface="Georgia"/>
              </a:rPr>
              <a:t>Integration with AI/LLMs</a:t>
            </a:r>
            <a:r>
              <a:rPr lang="ro" sz="1300">
                <a:solidFill>
                  <a:schemeClr val="lt1"/>
                </a:solidFill>
                <a:highlight>
                  <a:schemeClr val="dk1"/>
                </a:highlight>
                <a:latin typeface="Georgia"/>
                <a:ea typeface="Georgia"/>
                <a:cs typeface="Georgia"/>
                <a:sym typeface="Georgia"/>
              </a:rPr>
              <a:t>: retrieval-augmented generation (</a:t>
            </a:r>
            <a:r>
              <a:rPr b="1" lang="ro" sz="1300">
                <a:solidFill>
                  <a:schemeClr val="lt1"/>
                </a:solidFill>
                <a:highlight>
                  <a:schemeClr val="dk1"/>
                </a:highlight>
                <a:latin typeface="Georgia"/>
                <a:ea typeface="Georgia"/>
                <a:cs typeface="Georgia"/>
                <a:sym typeface="Georgia"/>
              </a:rPr>
              <a:t>RAG</a:t>
            </a:r>
            <a:r>
              <a:rPr lang="ro" sz="1300">
                <a:solidFill>
                  <a:schemeClr val="lt1"/>
                </a:solidFill>
                <a:highlight>
                  <a:schemeClr val="dk1"/>
                </a:highlight>
                <a:latin typeface="Georgia"/>
                <a:ea typeface="Georgia"/>
                <a:cs typeface="Georgia"/>
                <a:sym typeface="Georgia"/>
              </a:rPr>
              <a:t>).</a:t>
            </a:r>
            <a:endParaRPr sz="1300">
              <a:solidFill>
                <a:schemeClr val="lt1"/>
              </a:solidFill>
              <a:highlight>
                <a:schemeClr val="dk1"/>
              </a:highlight>
              <a:latin typeface="Georgia"/>
              <a:ea typeface="Georgia"/>
              <a:cs typeface="Georgia"/>
              <a:sym typeface="Georgia"/>
            </a:endParaRPr>
          </a:p>
          <a:p>
            <a:pPr indent="-311150" lvl="0" marL="457200" rtl="0" algn="l">
              <a:lnSpc>
                <a:spcPct val="115000"/>
              </a:lnSpc>
              <a:spcBef>
                <a:spcPts val="0"/>
              </a:spcBef>
              <a:spcAft>
                <a:spcPts val="0"/>
              </a:spcAft>
              <a:buClr>
                <a:schemeClr val="lt1"/>
              </a:buClr>
              <a:buSzPts val="1300"/>
              <a:buFont typeface="Georgia"/>
              <a:buChar char="●"/>
            </a:pPr>
            <a:r>
              <a:rPr b="1" lang="ro" sz="1300">
                <a:solidFill>
                  <a:schemeClr val="lt1"/>
                </a:solidFill>
                <a:highlight>
                  <a:schemeClr val="dk1"/>
                </a:highlight>
                <a:latin typeface="Georgia"/>
                <a:ea typeface="Georgia"/>
                <a:cs typeface="Georgia"/>
                <a:sym typeface="Georgia"/>
              </a:rPr>
              <a:t>Future directions</a:t>
            </a:r>
            <a:r>
              <a:rPr lang="ro" sz="1300">
                <a:solidFill>
                  <a:schemeClr val="lt1"/>
                </a:solidFill>
                <a:highlight>
                  <a:schemeClr val="dk1"/>
                </a:highlight>
                <a:latin typeface="Georgia"/>
                <a:ea typeface="Georgia"/>
                <a:cs typeface="Georgia"/>
                <a:sym typeface="Georgia"/>
              </a:rPr>
              <a:t>: self-updating indexes, hardware acceleration, scalable search.</a:t>
            </a:r>
            <a:endParaRPr sz="1300">
              <a:solidFill>
                <a:schemeClr val="lt1"/>
              </a:solidFill>
              <a:highlight>
                <a:schemeClr val="dk1"/>
              </a:highlight>
              <a:latin typeface="Georgia"/>
              <a:ea typeface="Georgia"/>
              <a:cs typeface="Georgia"/>
              <a:sym typeface="Georgia"/>
            </a:endParaRPr>
          </a:p>
          <a:p>
            <a:pPr indent="-311150" lvl="0" marL="457200" rtl="0" algn="l">
              <a:lnSpc>
                <a:spcPct val="115000"/>
              </a:lnSpc>
              <a:spcBef>
                <a:spcPts val="0"/>
              </a:spcBef>
              <a:spcAft>
                <a:spcPts val="0"/>
              </a:spcAft>
              <a:buClr>
                <a:schemeClr val="lt1"/>
              </a:buClr>
              <a:buSzPts val="1300"/>
              <a:buFont typeface="Georgia"/>
              <a:buChar char="●"/>
            </a:pPr>
            <a:r>
              <a:rPr b="1" lang="ro" sz="1300">
                <a:solidFill>
                  <a:schemeClr val="lt1"/>
                </a:solidFill>
                <a:highlight>
                  <a:schemeClr val="dk1"/>
                </a:highlight>
                <a:latin typeface="Georgia"/>
                <a:ea typeface="Georgia"/>
                <a:cs typeface="Georgia"/>
                <a:sym typeface="Georgia"/>
              </a:rPr>
              <a:t>Applications</a:t>
            </a:r>
            <a:r>
              <a:rPr lang="ro" sz="1300">
                <a:solidFill>
                  <a:schemeClr val="lt1"/>
                </a:solidFill>
                <a:highlight>
                  <a:schemeClr val="dk1"/>
                </a:highlight>
                <a:latin typeface="Georgia"/>
                <a:ea typeface="Georgia"/>
                <a:cs typeface="Georgia"/>
                <a:sym typeface="Georgia"/>
              </a:rPr>
              <a:t> </a:t>
            </a:r>
            <a:r>
              <a:rPr lang="ro" sz="1300">
                <a:solidFill>
                  <a:schemeClr val="lt1"/>
                </a:solidFill>
                <a:highlight>
                  <a:schemeClr val="dk1"/>
                </a:highlight>
                <a:latin typeface="Georgia"/>
                <a:ea typeface="Georgia"/>
                <a:cs typeface="Georgia"/>
                <a:sym typeface="Georgia"/>
              </a:rPr>
              <a:t>in search engines, recommendation systems, AI assistants, scientific data analysis.</a:t>
            </a:r>
            <a:endParaRPr sz="1300">
              <a:solidFill>
                <a:schemeClr val="lt1"/>
              </a:solidFill>
              <a:highlight>
                <a:schemeClr val="dk1"/>
              </a:highlight>
              <a:latin typeface="Georgia"/>
              <a:ea typeface="Georgia"/>
              <a:cs typeface="Georgia"/>
              <a:sym typeface="Georgia"/>
            </a:endParaRPr>
          </a:p>
        </p:txBody>
      </p:sp>
      <p:sp>
        <p:nvSpPr>
          <p:cNvPr id="97" name="Google Shape;97;p18"/>
          <p:cNvSpPr/>
          <p:nvPr/>
        </p:nvSpPr>
        <p:spPr>
          <a:xfrm>
            <a:off x="381000" y="434350"/>
            <a:ext cx="4122300" cy="4305300"/>
          </a:xfrm>
          <a:prstGeom prst="foldedCorner">
            <a:avLst>
              <a:gd fmla="val 16667"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lt1"/>
              </a:solidFill>
              <a:highlight>
                <a:schemeClr val="dk1"/>
              </a:highlight>
              <a:latin typeface="Georgia"/>
              <a:ea typeface="Georgia"/>
              <a:cs typeface="Georgia"/>
              <a:sym typeface="Georgia"/>
            </a:endParaRPr>
          </a:p>
          <a:p>
            <a:pPr indent="0" lvl="0" marL="0" rtl="0" algn="l">
              <a:lnSpc>
                <a:spcPct val="115000"/>
              </a:lnSpc>
              <a:spcBef>
                <a:spcPts val="1200"/>
              </a:spcBef>
              <a:spcAft>
                <a:spcPts val="0"/>
              </a:spcAft>
              <a:buNone/>
            </a:pPr>
            <a:r>
              <a:rPr lang="ro">
                <a:solidFill>
                  <a:schemeClr val="lt1"/>
                </a:solidFill>
                <a:highlight>
                  <a:schemeClr val="dk1"/>
                </a:highlight>
                <a:latin typeface="Georgia"/>
                <a:ea typeface="Georgia"/>
                <a:cs typeface="Georgia"/>
                <a:sym typeface="Georgia"/>
              </a:rPr>
              <a:t>There are several </a:t>
            </a:r>
            <a:r>
              <a:rPr lang="ro">
                <a:solidFill>
                  <a:schemeClr val="lt1"/>
                </a:solidFill>
                <a:highlight>
                  <a:schemeClr val="dk1"/>
                </a:highlight>
                <a:latin typeface="Georgia"/>
                <a:ea typeface="Georgia"/>
                <a:cs typeface="Georgia"/>
                <a:sym typeface="Georgia"/>
              </a:rPr>
              <a:t>indexing techniques, such as:</a:t>
            </a:r>
            <a:endParaRPr>
              <a:solidFill>
                <a:schemeClr val="lt1"/>
              </a:solidFill>
              <a:highlight>
                <a:schemeClr val="dk1"/>
              </a:highlight>
              <a:latin typeface="Georgia"/>
              <a:ea typeface="Georgia"/>
              <a:cs typeface="Georgia"/>
              <a:sym typeface="Georgia"/>
            </a:endParaRPr>
          </a:p>
          <a:p>
            <a:pPr indent="-317500" lvl="0" marL="457200" rtl="0" algn="l">
              <a:lnSpc>
                <a:spcPct val="115000"/>
              </a:lnSpc>
              <a:spcBef>
                <a:spcPts val="1200"/>
              </a:spcBef>
              <a:spcAft>
                <a:spcPts val="0"/>
              </a:spcAft>
              <a:buClr>
                <a:schemeClr val="lt1"/>
              </a:buClr>
              <a:buSzPts val="1400"/>
              <a:buFont typeface="Georgia"/>
              <a:buChar char="●"/>
            </a:pPr>
            <a:r>
              <a:rPr b="1" lang="ro">
                <a:solidFill>
                  <a:schemeClr val="lt1"/>
                </a:solidFill>
                <a:highlight>
                  <a:schemeClr val="dk1"/>
                </a:highlight>
                <a:latin typeface="Georgia"/>
                <a:ea typeface="Georgia"/>
                <a:cs typeface="Georgia"/>
                <a:sym typeface="Georgia"/>
              </a:rPr>
              <a:t>Distance-based</a:t>
            </a:r>
            <a:r>
              <a:rPr lang="ro">
                <a:solidFill>
                  <a:schemeClr val="lt1"/>
                </a:solidFill>
                <a:highlight>
                  <a:schemeClr val="dk1"/>
                </a:highlight>
                <a:latin typeface="Georgia"/>
                <a:ea typeface="Georgia"/>
                <a:cs typeface="Georgia"/>
                <a:sym typeface="Georgia"/>
              </a:rPr>
              <a:t>: simple brute-force, slow for large datasets.</a:t>
            </a:r>
            <a:endParaRPr>
              <a:solidFill>
                <a:schemeClr val="lt1"/>
              </a:solidFill>
              <a:highlight>
                <a:schemeClr val="dk1"/>
              </a:highlight>
              <a:latin typeface="Georgia"/>
              <a:ea typeface="Georgia"/>
              <a:cs typeface="Georgia"/>
              <a:sym typeface="Georgia"/>
            </a:endParaRPr>
          </a:p>
          <a:p>
            <a:pPr indent="-317500" lvl="0" marL="457200" rtl="0" algn="l">
              <a:lnSpc>
                <a:spcPct val="115000"/>
              </a:lnSpc>
              <a:spcBef>
                <a:spcPts val="0"/>
              </a:spcBef>
              <a:spcAft>
                <a:spcPts val="0"/>
              </a:spcAft>
              <a:buClr>
                <a:schemeClr val="lt1"/>
              </a:buClr>
              <a:buSzPts val="1400"/>
              <a:buFont typeface="Georgia"/>
              <a:buChar char="●"/>
            </a:pPr>
            <a:r>
              <a:rPr b="1" lang="ro">
                <a:solidFill>
                  <a:schemeClr val="lt1"/>
                </a:solidFill>
                <a:highlight>
                  <a:schemeClr val="dk1"/>
                </a:highlight>
                <a:latin typeface="Georgia"/>
                <a:ea typeface="Georgia"/>
                <a:cs typeface="Georgia"/>
                <a:sym typeface="Georgia"/>
              </a:rPr>
              <a:t>Partition-based</a:t>
            </a:r>
            <a:r>
              <a:rPr lang="ro">
                <a:solidFill>
                  <a:schemeClr val="lt1"/>
                </a:solidFill>
                <a:highlight>
                  <a:schemeClr val="dk1"/>
                </a:highlight>
                <a:latin typeface="Georgia"/>
                <a:ea typeface="Georgia"/>
                <a:cs typeface="Georgia"/>
                <a:sym typeface="Georgia"/>
              </a:rPr>
              <a:t>: groups similar vectors into clusters.</a:t>
            </a:r>
            <a:endParaRPr>
              <a:solidFill>
                <a:schemeClr val="lt1"/>
              </a:solidFill>
              <a:highlight>
                <a:schemeClr val="dk1"/>
              </a:highlight>
              <a:latin typeface="Georgia"/>
              <a:ea typeface="Georgia"/>
              <a:cs typeface="Georgia"/>
              <a:sym typeface="Georgia"/>
            </a:endParaRPr>
          </a:p>
          <a:p>
            <a:pPr indent="-317500" lvl="0" marL="457200" rtl="0" algn="l">
              <a:lnSpc>
                <a:spcPct val="115000"/>
              </a:lnSpc>
              <a:spcBef>
                <a:spcPts val="0"/>
              </a:spcBef>
              <a:spcAft>
                <a:spcPts val="0"/>
              </a:spcAft>
              <a:buClr>
                <a:schemeClr val="lt1"/>
              </a:buClr>
              <a:buSzPts val="1400"/>
              <a:buFont typeface="Georgia"/>
              <a:buChar char="●"/>
            </a:pPr>
            <a:r>
              <a:rPr b="1" lang="ro">
                <a:solidFill>
                  <a:schemeClr val="lt1"/>
                </a:solidFill>
                <a:highlight>
                  <a:schemeClr val="dk1"/>
                </a:highlight>
                <a:latin typeface="Georgia"/>
                <a:ea typeface="Georgia"/>
                <a:cs typeface="Georgia"/>
                <a:sym typeface="Georgia"/>
              </a:rPr>
              <a:t>Graph-based</a:t>
            </a:r>
            <a:r>
              <a:rPr lang="ro">
                <a:solidFill>
                  <a:schemeClr val="lt1"/>
                </a:solidFill>
                <a:highlight>
                  <a:schemeClr val="dk1"/>
                </a:highlight>
                <a:latin typeface="Georgia"/>
                <a:ea typeface="Georgia"/>
                <a:cs typeface="Georgia"/>
                <a:sym typeface="Georgia"/>
              </a:rPr>
              <a:t>: connects nearest neighbors, search navigates promising paths.</a:t>
            </a:r>
            <a:endParaRPr>
              <a:solidFill>
                <a:schemeClr val="lt1"/>
              </a:solidFill>
              <a:highlight>
                <a:schemeClr val="dk1"/>
              </a:highlight>
              <a:latin typeface="Georgia"/>
              <a:ea typeface="Georgia"/>
              <a:cs typeface="Georgia"/>
              <a:sym typeface="Georgia"/>
            </a:endParaRPr>
          </a:p>
          <a:p>
            <a:pPr indent="-317500" lvl="0" marL="457200" rtl="0" algn="l">
              <a:lnSpc>
                <a:spcPct val="115000"/>
              </a:lnSpc>
              <a:spcBef>
                <a:spcPts val="0"/>
              </a:spcBef>
              <a:spcAft>
                <a:spcPts val="0"/>
              </a:spcAft>
              <a:buClr>
                <a:schemeClr val="lt1"/>
              </a:buClr>
              <a:buSzPts val="1400"/>
              <a:buFont typeface="Georgia"/>
              <a:buChar char="●"/>
            </a:pPr>
            <a:r>
              <a:rPr b="1" lang="ro">
                <a:solidFill>
                  <a:schemeClr val="lt1"/>
                </a:solidFill>
                <a:highlight>
                  <a:schemeClr val="dk1"/>
                </a:highlight>
                <a:latin typeface="Georgia"/>
                <a:ea typeface="Georgia"/>
                <a:cs typeface="Georgia"/>
                <a:sym typeface="Georgia"/>
              </a:rPr>
              <a:t>Compression-based</a:t>
            </a:r>
            <a:r>
              <a:rPr lang="ro">
                <a:solidFill>
                  <a:schemeClr val="lt1"/>
                </a:solidFill>
                <a:highlight>
                  <a:schemeClr val="dk1"/>
                </a:highlight>
                <a:latin typeface="Georgia"/>
                <a:ea typeface="Georgia"/>
                <a:cs typeface="Georgia"/>
                <a:sym typeface="Georgia"/>
              </a:rPr>
              <a:t>: reduces vector size for memory and speed efficiency.</a:t>
            </a:r>
            <a:endParaRPr>
              <a:solidFill>
                <a:schemeClr val="lt1"/>
              </a:solidFill>
              <a:highlight>
                <a:schemeClr val="dk1"/>
              </a:highlight>
              <a:latin typeface="Georgia"/>
              <a:ea typeface="Georgia"/>
              <a:cs typeface="Georgia"/>
              <a:sym typeface="Georgia"/>
            </a:endParaRPr>
          </a:p>
          <a:p>
            <a:pPr indent="-317500" lvl="0" marL="457200" rtl="0" algn="l">
              <a:lnSpc>
                <a:spcPct val="115000"/>
              </a:lnSpc>
              <a:spcBef>
                <a:spcPts val="0"/>
              </a:spcBef>
              <a:spcAft>
                <a:spcPts val="0"/>
              </a:spcAft>
              <a:buClr>
                <a:schemeClr val="lt1"/>
              </a:buClr>
              <a:buSzPts val="1400"/>
              <a:buFont typeface="Georgia"/>
              <a:buChar char="●"/>
            </a:pPr>
            <a:r>
              <a:rPr b="1" lang="ro">
                <a:solidFill>
                  <a:schemeClr val="lt1"/>
                </a:solidFill>
                <a:highlight>
                  <a:schemeClr val="dk1"/>
                </a:highlight>
                <a:latin typeface="Georgia"/>
                <a:ea typeface="Georgia"/>
                <a:cs typeface="Georgia"/>
                <a:sym typeface="Georgia"/>
              </a:rPr>
              <a:t>Hybrid methods</a:t>
            </a:r>
            <a:r>
              <a:rPr lang="ro">
                <a:solidFill>
                  <a:schemeClr val="lt1"/>
                </a:solidFill>
                <a:highlight>
                  <a:schemeClr val="dk1"/>
                </a:highlight>
                <a:latin typeface="Georgia"/>
                <a:ea typeface="Georgia"/>
                <a:cs typeface="Georgia"/>
                <a:sym typeface="Georgia"/>
              </a:rPr>
              <a:t> combine techniques for speed + accuracy.</a:t>
            </a:r>
            <a:endParaRPr>
              <a:solidFill>
                <a:schemeClr val="lt1"/>
              </a:solidFill>
              <a:highlight>
                <a:schemeClr val="dk1"/>
              </a:highlight>
              <a:latin typeface="Georgia"/>
              <a:ea typeface="Georgia"/>
              <a:cs typeface="Georgia"/>
              <a:sym typeface="Georg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ro">
                <a:latin typeface="Georgia"/>
                <a:ea typeface="Georgia"/>
                <a:cs typeface="Georgia"/>
                <a:sym typeface="Georgia"/>
              </a:rPr>
              <a:t>Research conclusions</a:t>
            </a:r>
            <a:endParaRPr b="1">
              <a:latin typeface="Georgia"/>
              <a:ea typeface="Georgia"/>
              <a:cs typeface="Georgia"/>
              <a:sym typeface="Georgia"/>
            </a:endParaRPr>
          </a:p>
        </p:txBody>
      </p:sp>
      <p:sp>
        <p:nvSpPr>
          <p:cNvPr id="103" name="Google Shape;103;p19"/>
          <p:cNvSpPr txBox="1"/>
          <p:nvPr>
            <p:ph idx="1" type="body"/>
          </p:nvPr>
        </p:nvSpPr>
        <p:spPr>
          <a:xfrm>
            <a:off x="311700" y="1468825"/>
            <a:ext cx="8520600" cy="3499500"/>
          </a:xfrm>
          <a:prstGeom prst="rect">
            <a:avLst/>
          </a:prstGeom>
        </p:spPr>
        <p:txBody>
          <a:bodyPr anchorCtr="0" anchor="t" bIns="91425" lIns="91425" spcFirstLastPara="1" rIns="91425" wrap="square" tIns="91425">
            <a:normAutofit fontScale="62500" lnSpcReduction="10000"/>
          </a:bodyPr>
          <a:lstStyle/>
          <a:p>
            <a:pPr indent="-300037" lvl="0" marL="457200" rtl="0" algn="l">
              <a:spcBef>
                <a:spcPts val="0"/>
              </a:spcBef>
              <a:spcAft>
                <a:spcPts val="0"/>
              </a:spcAft>
              <a:buSzPct val="100000"/>
              <a:buFont typeface="Georgia"/>
              <a:buChar char="●"/>
            </a:pPr>
            <a:r>
              <a:rPr lang="ro">
                <a:latin typeface="Georgia"/>
                <a:ea typeface="Georgia"/>
                <a:cs typeface="Georgia"/>
                <a:sym typeface="Georgia"/>
              </a:rPr>
              <a:t>This research explored the vector databases for semantic search, showing how these systems have changed the way we store, retrieve, and use unstructured data. </a:t>
            </a:r>
            <a:r>
              <a:rPr lang="ro">
                <a:latin typeface="Georgia"/>
                <a:ea typeface="Georgia"/>
                <a:cs typeface="Georgia"/>
                <a:sym typeface="Georgia"/>
              </a:rPr>
              <a:t>We started</a:t>
            </a:r>
            <a:r>
              <a:rPr lang="ro">
                <a:latin typeface="Georgia"/>
                <a:ea typeface="Georgia"/>
                <a:cs typeface="Georgia"/>
                <a:sym typeface="Georgia"/>
              </a:rPr>
              <a:t> by understanding why keyword search is no longer enough, and after that we learned how vector databases work. We looked at how embeddings work, how they allow semantic search, and how vector databases use them to find similarities and make recommendations. </a:t>
            </a:r>
            <a:endParaRPr>
              <a:latin typeface="Georgia"/>
              <a:ea typeface="Georgia"/>
              <a:cs typeface="Georgia"/>
              <a:sym typeface="Georgia"/>
            </a:endParaRPr>
          </a:p>
          <a:p>
            <a:pPr indent="-300037" lvl="0" marL="457200" rtl="0" algn="l">
              <a:spcBef>
                <a:spcPts val="0"/>
              </a:spcBef>
              <a:spcAft>
                <a:spcPts val="0"/>
              </a:spcAft>
              <a:buSzPct val="100000"/>
              <a:buFont typeface="Georgia"/>
              <a:buChar char="●"/>
            </a:pPr>
            <a:r>
              <a:rPr lang="ro">
                <a:latin typeface="Georgia"/>
                <a:ea typeface="Georgia"/>
                <a:cs typeface="Georgia"/>
                <a:sym typeface="Georgia"/>
              </a:rPr>
              <a:t>Indexing techniques were explained in detail, showing how modern systems balance accuracy, speed, and memory usage. </a:t>
            </a:r>
            <a:endParaRPr>
              <a:latin typeface="Georgia"/>
              <a:ea typeface="Georgia"/>
              <a:cs typeface="Georgia"/>
              <a:sym typeface="Georgia"/>
            </a:endParaRPr>
          </a:p>
          <a:p>
            <a:pPr indent="-300037" lvl="0" marL="457200" rtl="0" algn="l">
              <a:spcBef>
                <a:spcPts val="0"/>
              </a:spcBef>
              <a:spcAft>
                <a:spcPts val="0"/>
              </a:spcAft>
              <a:buSzPct val="100000"/>
              <a:buFont typeface="Georgia"/>
              <a:buChar char="●"/>
            </a:pPr>
            <a:r>
              <a:rPr lang="ro">
                <a:latin typeface="Georgia"/>
                <a:ea typeface="Georgia"/>
                <a:cs typeface="Georgia"/>
                <a:sym typeface="Georgia"/>
              </a:rPr>
              <a:t>Modern vector databases are more than just storage, because they are integrated into AI pipelines, especially when working with large language models (LLMs). With this topic on, we also discussed retrieval-augmented generation (RAG). </a:t>
            </a:r>
            <a:endParaRPr>
              <a:latin typeface="Georgia"/>
              <a:ea typeface="Georgia"/>
              <a:cs typeface="Georgia"/>
              <a:sym typeface="Georgia"/>
            </a:endParaRPr>
          </a:p>
          <a:p>
            <a:pPr indent="-300037" lvl="0" marL="457200" rtl="0" algn="l">
              <a:spcBef>
                <a:spcPts val="0"/>
              </a:spcBef>
              <a:spcAft>
                <a:spcPts val="0"/>
              </a:spcAft>
              <a:buSzPct val="100000"/>
              <a:buFont typeface="Georgia"/>
              <a:buChar char="●"/>
            </a:pPr>
            <a:r>
              <a:rPr lang="ro">
                <a:latin typeface="Georgia"/>
                <a:ea typeface="Georgia"/>
                <a:cs typeface="Georgia"/>
                <a:sym typeface="Georgia"/>
              </a:rPr>
              <a:t>The report also looked at trends and advanced techniques, such as semantic compression, graph-augmented retrieval, multimodal embeddings and hybrid search. These innovations help vector databases work faster, use less memory, and support multiple types of data, including text, images, and audio. We saw that compression can reduce storage needs while keeping results as accurate as possible, and we also saw that multimodal embeddings allow the system to link information from different sources at the same time. </a:t>
            </a:r>
            <a:endParaRPr>
              <a:latin typeface="Georgia"/>
              <a:ea typeface="Georgia"/>
              <a:cs typeface="Georgia"/>
              <a:sym typeface="Georgia"/>
            </a:endParaRPr>
          </a:p>
          <a:p>
            <a:pPr indent="-300037" lvl="0" marL="457200" rtl="0" algn="l">
              <a:spcBef>
                <a:spcPts val="0"/>
              </a:spcBef>
              <a:spcAft>
                <a:spcPts val="0"/>
              </a:spcAft>
              <a:buSzPct val="100000"/>
              <a:buFont typeface="Georgia"/>
              <a:buChar char="●"/>
            </a:pPr>
            <a:r>
              <a:rPr lang="ro">
                <a:latin typeface="Georgia"/>
                <a:ea typeface="Georgia"/>
                <a:cs typeface="Georgia"/>
                <a:sym typeface="Georgia"/>
              </a:rPr>
              <a:t>Finally, we considered future directions for vector databases. Research is focusing on self-updating indexes, hardware acceleration, distributed and scalable architectures and adaptive search methods. These improvements will make vector databases even more efficient, intelligent, and integrated with AI applications. </a:t>
            </a:r>
            <a:endParaRPr>
              <a:latin typeface="Georgia"/>
              <a:ea typeface="Georgia"/>
              <a:cs typeface="Georgia"/>
              <a:sym typeface="Georgia"/>
            </a:endParaRPr>
          </a:p>
          <a:p>
            <a:pPr indent="-300037" lvl="0" marL="457200" rtl="0" algn="l">
              <a:spcBef>
                <a:spcPts val="0"/>
              </a:spcBef>
              <a:spcAft>
                <a:spcPts val="0"/>
              </a:spcAft>
              <a:buSzPct val="100000"/>
              <a:buFont typeface="Georgia"/>
              <a:buChar char="●"/>
            </a:pPr>
            <a:r>
              <a:rPr lang="ro">
                <a:latin typeface="Georgia"/>
                <a:ea typeface="Georgia"/>
                <a:cs typeface="Georgia"/>
                <a:sym typeface="Georgia"/>
              </a:rPr>
              <a:t>In short, vector databases are becoming essential for modern AI systems, providing the tools needed to handle unstructured data in a meaningful, practical, and scalable way.</a:t>
            </a:r>
            <a:endParaRPr>
              <a:latin typeface="Georgia"/>
              <a:ea typeface="Georgia"/>
              <a:cs typeface="Georgia"/>
              <a:sym typeface="Georg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ro">
                <a:latin typeface="Georgia"/>
                <a:ea typeface="Georgia"/>
                <a:cs typeface="Georgia"/>
                <a:sym typeface="Georgia"/>
              </a:rPr>
              <a:t>Demo conclusions &amp; interpretations</a:t>
            </a:r>
            <a:endParaRPr b="1">
              <a:latin typeface="Georgia"/>
              <a:ea typeface="Georgia"/>
              <a:cs typeface="Georgia"/>
              <a:sym typeface="Georgia"/>
            </a:endParaRPr>
          </a:p>
        </p:txBody>
      </p:sp>
      <p:sp>
        <p:nvSpPr>
          <p:cNvPr id="109" name="Google Shape;109;p20"/>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latin typeface="Georgia"/>
              <a:ea typeface="Georgia"/>
              <a:cs typeface="Georgia"/>
              <a:sym typeface="Georgia"/>
            </a:endParaRPr>
          </a:p>
          <a:p>
            <a:pPr indent="0" lvl="0" marL="0" rtl="0" algn="l">
              <a:spcBef>
                <a:spcPts val="1200"/>
              </a:spcBef>
              <a:spcAft>
                <a:spcPts val="0"/>
              </a:spcAft>
              <a:buNone/>
            </a:pPr>
            <a:r>
              <a:rPr lang="ro">
                <a:latin typeface="Georgia"/>
                <a:ea typeface="Georgia"/>
                <a:cs typeface="Georgia"/>
                <a:sym typeface="Georgia"/>
              </a:rPr>
              <a:t>Semantic compression makes search much faster and uses less memory while keeping most of the important information. In these three examples, moving from full embeddings to 64 dimensions kept recall high, and even at 32 dimensions the results were still reasonable. Overall, compressing embeddings is a great trade-off: you get huge speed and memory improvements with only a small drop in accuracy.</a:t>
            </a:r>
            <a:endParaRPr>
              <a:latin typeface="Georgia"/>
              <a:ea typeface="Georgia"/>
              <a:cs typeface="Georgia"/>
              <a:sym typeface="Georgia"/>
            </a:endParaRPr>
          </a:p>
          <a:p>
            <a:pPr indent="0" lvl="0" marL="0" rtl="0" algn="l">
              <a:spcBef>
                <a:spcPts val="1200"/>
              </a:spcBef>
              <a:spcAft>
                <a:spcPts val="1200"/>
              </a:spcAft>
              <a:buNone/>
            </a:pPr>
            <a:r>
              <a:rPr lang="ro">
                <a:latin typeface="Georgia"/>
                <a:ea typeface="Georgia"/>
                <a:cs typeface="Georgia"/>
                <a:sym typeface="Georgia"/>
              </a:rPr>
              <a:t>See examples and interpretations </a:t>
            </a:r>
            <a:r>
              <a:rPr b="1" lang="ro" u="sng">
                <a:solidFill>
                  <a:schemeClr val="dk1"/>
                </a:solidFill>
                <a:latin typeface="Georgia"/>
                <a:ea typeface="Georgia"/>
                <a:cs typeface="Georgia"/>
                <a:sym typeface="Georgia"/>
                <a:hlinkClick r:id="rId3">
                  <a:extLst>
                    <a:ext uri="{A12FA001-AC4F-418D-AE19-62706E023703}">
                      <ahyp:hlinkClr val="tx"/>
                    </a:ext>
                  </a:extLst>
                </a:hlinkClick>
              </a:rPr>
              <a:t>HERE</a:t>
            </a:r>
            <a:r>
              <a:rPr lang="ro">
                <a:latin typeface="Georgia"/>
                <a:ea typeface="Georgia"/>
                <a:cs typeface="Georgia"/>
                <a:sym typeface="Georgia"/>
              </a:rPr>
              <a:t>.</a:t>
            </a:r>
            <a:endParaRPr>
              <a:latin typeface="Georgia"/>
              <a:ea typeface="Georgia"/>
              <a:cs typeface="Georgia"/>
              <a:sym typeface="Georgia"/>
            </a:endParaRPr>
          </a:p>
        </p:txBody>
      </p:sp>
      <p:sp>
        <p:nvSpPr>
          <p:cNvPr id="110" name="Google Shape;110;p20"/>
          <p:cNvSpPr txBox="1"/>
          <p:nvPr/>
        </p:nvSpPr>
        <p:spPr>
          <a:xfrm>
            <a:off x="1013475" y="1007125"/>
            <a:ext cx="4389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o" sz="1800">
                <a:solidFill>
                  <a:schemeClr val="dk2"/>
                </a:solidFill>
                <a:latin typeface="Caveat"/>
                <a:ea typeface="Caveat"/>
                <a:cs typeface="Caveat"/>
                <a:sym typeface="Caveat"/>
              </a:rPr>
              <a:t>Semantic Compression</a:t>
            </a:r>
            <a:endParaRPr sz="1800">
              <a:solidFill>
                <a:schemeClr val="dk2"/>
              </a:solidFill>
              <a:latin typeface="Caveat"/>
              <a:ea typeface="Caveat"/>
              <a:cs typeface="Caveat"/>
              <a:sym typeface="Cave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ro">
                <a:latin typeface="Georgia"/>
                <a:ea typeface="Georgia"/>
                <a:cs typeface="Georgia"/>
                <a:sym typeface="Georgia"/>
              </a:rPr>
              <a:t>References</a:t>
            </a:r>
            <a:endParaRPr b="1">
              <a:latin typeface="Georgia"/>
              <a:ea typeface="Georgia"/>
              <a:cs typeface="Georgia"/>
              <a:sym typeface="Georgia"/>
            </a:endParaRPr>
          </a:p>
        </p:txBody>
      </p:sp>
      <p:sp>
        <p:nvSpPr>
          <p:cNvPr id="116" name="Google Shape;116;p21"/>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852"/>
              <a:buNone/>
            </a:pPr>
            <a:r>
              <a:rPr lang="ro" sz="1230">
                <a:latin typeface="Georgia"/>
                <a:ea typeface="Georgia"/>
                <a:cs typeface="Georgia"/>
                <a:sym typeface="Georgia"/>
              </a:rPr>
              <a:t>[1] James Jie Pan, Jianguo Wang &amp; Guoliang Li, Survey of Vector Database Management Systems, 2023, </a:t>
            </a:r>
            <a:r>
              <a:rPr lang="ro" sz="1230" u="sng">
                <a:latin typeface="Georgia"/>
                <a:ea typeface="Georgia"/>
                <a:cs typeface="Georgia"/>
                <a:sym typeface="Georgia"/>
                <a:hlinkClick r:id="rId3"/>
              </a:rPr>
              <a:t>https://arxiv.org/pdf/2310.14021</a:t>
            </a:r>
            <a:r>
              <a:rPr lang="ro" sz="1230">
                <a:latin typeface="Georgia"/>
                <a:ea typeface="Georgia"/>
                <a:cs typeface="Georgia"/>
                <a:sym typeface="Georgia"/>
              </a:rPr>
              <a:t>, Last accessed: January 2026</a:t>
            </a:r>
            <a:endParaRPr sz="1230">
              <a:latin typeface="Georgia"/>
              <a:ea typeface="Georgia"/>
              <a:cs typeface="Georgia"/>
              <a:sym typeface="Georgia"/>
            </a:endParaRPr>
          </a:p>
          <a:p>
            <a:pPr indent="0" lvl="0" marL="0" rtl="0" algn="l">
              <a:lnSpc>
                <a:spcPct val="105000"/>
              </a:lnSpc>
              <a:spcBef>
                <a:spcPts val="1200"/>
              </a:spcBef>
              <a:spcAft>
                <a:spcPts val="0"/>
              </a:spcAft>
              <a:buSzPts val="852"/>
              <a:buNone/>
            </a:pPr>
            <a:r>
              <a:rPr lang="ro" sz="1230">
                <a:latin typeface="Georgia"/>
                <a:ea typeface="Georgia"/>
                <a:cs typeface="Georgia"/>
                <a:sym typeface="Georgia"/>
              </a:rPr>
              <a:t>[2] Cuzzocrea Alfredo, Vector Databases for Modelling, Managing and Querying Big Scientific Data: Models, Issues, Paradigms, 2025, </a:t>
            </a:r>
            <a:r>
              <a:rPr lang="ro" sz="1230" u="sng">
                <a:latin typeface="Georgia"/>
                <a:ea typeface="Georgia"/>
                <a:cs typeface="Georgia"/>
                <a:sym typeface="Georgia"/>
                <a:hlinkClick r:id="rId4"/>
              </a:rPr>
              <a:t>https://dl.acm.org/doi/pdf/10.1145/3733723.3742469</a:t>
            </a:r>
            <a:r>
              <a:rPr lang="ro" sz="1230">
                <a:latin typeface="Georgia"/>
                <a:ea typeface="Georgia"/>
                <a:cs typeface="Georgia"/>
                <a:sym typeface="Georgia"/>
              </a:rPr>
              <a:t>, Last accessed: January 2026</a:t>
            </a:r>
            <a:endParaRPr sz="1230">
              <a:latin typeface="Georgia"/>
              <a:ea typeface="Georgia"/>
              <a:cs typeface="Georgia"/>
              <a:sym typeface="Georgia"/>
            </a:endParaRPr>
          </a:p>
          <a:p>
            <a:pPr indent="0" lvl="0" marL="0" rtl="0" algn="l">
              <a:lnSpc>
                <a:spcPct val="105000"/>
              </a:lnSpc>
              <a:spcBef>
                <a:spcPts val="1200"/>
              </a:spcBef>
              <a:spcAft>
                <a:spcPts val="0"/>
              </a:spcAft>
              <a:buSzPts val="852"/>
              <a:buNone/>
            </a:pPr>
            <a:r>
              <a:rPr lang="ro" sz="1230">
                <a:latin typeface="Georgia"/>
                <a:ea typeface="Georgia"/>
                <a:cs typeface="Georgia"/>
                <a:sym typeface="Georgia"/>
              </a:rPr>
              <a:t>[3] Rahul Raja &amp; Arpita Vats, Beyond Nearest Neighbors: Semantic Compression and Graph-Augmented Retrieval for Enhanced Vector Search, 2025, </a:t>
            </a:r>
            <a:r>
              <a:rPr lang="ro" sz="1230" u="sng">
                <a:latin typeface="Georgia"/>
                <a:ea typeface="Georgia"/>
                <a:cs typeface="Georgia"/>
                <a:sym typeface="Georgia"/>
                <a:hlinkClick r:id="rId5"/>
              </a:rPr>
              <a:t>https://arxiv.org/pdf/2507.19715</a:t>
            </a:r>
            <a:r>
              <a:rPr lang="ro" sz="1230">
                <a:latin typeface="Georgia"/>
                <a:ea typeface="Georgia"/>
                <a:cs typeface="Georgia"/>
                <a:sym typeface="Georgia"/>
              </a:rPr>
              <a:t>, Last accessed: January 2026</a:t>
            </a:r>
            <a:endParaRPr sz="1230">
              <a:latin typeface="Georgia"/>
              <a:ea typeface="Georgia"/>
              <a:cs typeface="Georgia"/>
              <a:sym typeface="Georgia"/>
            </a:endParaRPr>
          </a:p>
          <a:p>
            <a:pPr indent="0" lvl="0" marL="0" rtl="0" algn="l">
              <a:lnSpc>
                <a:spcPct val="105000"/>
              </a:lnSpc>
              <a:spcBef>
                <a:spcPts val="1200"/>
              </a:spcBef>
              <a:spcAft>
                <a:spcPts val="0"/>
              </a:spcAft>
              <a:buSzPts val="852"/>
              <a:buNone/>
            </a:pPr>
            <a:r>
              <a:rPr lang="ro" sz="1230">
                <a:latin typeface="Georgia"/>
                <a:ea typeface="Georgia"/>
                <a:cs typeface="Georgia"/>
                <a:sym typeface="Georgia"/>
              </a:rPr>
              <a:t>[4] OpenAI, ChatGPT, </a:t>
            </a:r>
            <a:r>
              <a:rPr lang="ro" sz="1230" u="sng">
                <a:latin typeface="Georgia"/>
                <a:ea typeface="Georgia"/>
                <a:cs typeface="Georgia"/>
                <a:sym typeface="Georgia"/>
                <a:hlinkClick r:id="rId6"/>
              </a:rPr>
              <a:t>https://chatgpt.com/</a:t>
            </a:r>
            <a:r>
              <a:rPr lang="ro" sz="1230">
                <a:latin typeface="Georgia"/>
                <a:ea typeface="Georgia"/>
                <a:cs typeface="Georgia"/>
                <a:sym typeface="Georgia"/>
              </a:rPr>
              <a:t>, Last accessed: January 2026</a:t>
            </a:r>
            <a:endParaRPr sz="1230">
              <a:latin typeface="Georgia"/>
              <a:ea typeface="Georgia"/>
              <a:cs typeface="Georgia"/>
              <a:sym typeface="Georgia"/>
            </a:endParaRPr>
          </a:p>
          <a:p>
            <a:pPr indent="0" lvl="0" marL="0" rtl="0" algn="l">
              <a:lnSpc>
                <a:spcPct val="105000"/>
              </a:lnSpc>
              <a:spcBef>
                <a:spcPts val="1200"/>
              </a:spcBef>
              <a:spcAft>
                <a:spcPts val="0"/>
              </a:spcAft>
              <a:buSzPts val="852"/>
              <a:buNone/>
            </a:pPr>
            <a:r>
              <a:rPr lang="ro" sz="1230">
                <a:latin typeface="Georgia"/>
                <a:ea typeface="Georgia"/>
                <a:cs typeface="Georgia"/>
                <a:sym typeface="Georgia"/>
              </a:rPr>
              <a:t>[5] Kaggle, AG News Classification Dataset, </a:t>
            </a:r>
            <a:r>
              <a:rPr lang="ro" sz="1230" u="sng">
                <a:latin typeface="Georgia"/>
                <a:ea typeface="Georgia"/>
                <a:cs typeface="Georgia"/>
                <a:sym typeface="Georgia"/>
                <a:hlinkClick r:id="rId7"/>
              </a:rPr>
              <a:t>https://www.kaggle.com/datasets/amananandrai/ag-news-classification-dataset?resource=download</a:t>
            </a:r>
            <a:r>
              <a:rPr lang="ro" sz="1230">
                <a:latin typeface="Georgia"/>
                <a:ea typeface="Georgia"/>
                <a:cs typeface="Georgia"/>
                <a:sym typeface="Georgia"/>
              </a:rPr>
              <a:t>, Last accessed: January 2026</a:t>
            </a:r>
            <a:endParaRPr sz="1230">
              <a:latin typeface="Georgia"/>
              <a:ea typeface="Georgia"/>
              <a:cs typeface="Georgia"/>
              <a:sym typeface="Georgia"/>
            </a:endParaRPr>
          </a:p>
          <a:p>
            <a:pPr indent="0" lvl="0" marL="0" rtl="0" algn="l">
              <a:lnSpc>
                <a:spcPct val="105000"/>
              </a:lnSpc>
              <a:spcBef>
                <a:spcPts val="1200"/>
              </a:spcBef>
              <a:spcAft>
                <a:spcPts val="0"/>
              </a:spcAft>
              <a:buSzPts val="852"/>
              <a:buNone/>
            </a:pPr>
            <a:r>
              <a:rPr lang="ro" sz="1230">
                <a:latin typeface="Georgia"/>
                <a:ea typeface="Georgia"/>
                <a:cs typeface="Georgia"/>
                <a:sym typeface="Georgia"/>
              </a:rPr>
              <a:t>[6] Hugging Face, sentence-transformers/all-MiniLM-L6-v2, </a:t>
            </a:r>
            <a:r>
              <a:rPr lang="ro" sz="1230" u="sng">
                <a:latin typeface="Georgia"/>
                <a:ea typeface="Georgia"/>
                <a:cs typeface="Georgia"/>
                <a:sym typeface="Georgia"/>
                <a:hlinkClick r:id="rId8"/>
              </a:rPr>
              <a:t>https://huggingface.co/sentence-transformers/all-MiniLM-L6-v2</a:t>
            </a:r>
            <a:r>
              <a:rPr lang="ro" sz="1230">
                <a:latin typeface="Georgia"/>
                <a:ea typeface="Georgia"/>
                <a:cs typeface="Georgia"/>
                <a:sym typeface="Georgia"/>
              </a:rPr>
              <a:t>, Last accessed: January 2026</a:t>
            </a:r>
            <a:endParaRPr sz="1230">
              <a:latin typeface="Georgia"/>
              <a:ea typeface="Georgia"/>
              <a:cs typeface="Georgia"/>
              <a:sym typeface="Georgia"/>
            </a:endParaRPr>
          </a:p>
          <a:p>
            <a:pPr indent="0" lvl="0" marL="0" rtl="0" algn="l">
              <a:lnSpc>
                <a:spcPct val="90000"/>
              </a:lnSpc>
              <a:spcBef>
                <a:spcPts val="0"/>
              </a:spcBef>
              <a:spcAft>
                <a:spcPts val="0"/>
              </a:spcAft>
              <a:buSzPts val="852"/>
              <a:buNone/>
            </a:pPr>
            <a:r>
              <a:t/>
            </a:r>
            <a:endParaRPr sz="1695">
              <a:latin typeface="Georgia"/>
              <a:ea typeface="Georgia"/>
              <a:cs typeface="Georgia"/>
              <a:sym typeface="Georgia"/>
            </a:endParaRPr>
          </a:p>
          <a:p>
            <a:pPr indent="0" lvl="0" marL="0" rtl="0" algn="l">
              <a:lnSpc>
                <a:spcPct val="105000"/>
              </a:lnSpc>
              <a:spcBef>
                <a:spcPts val="0"/>
              </a:spcBef>
              <a:spcAft>
                <a:spcPts val="1200"/>
              </a:spcAft>
              <a:buSzPts val="852"/>
              <a:buNone/>
            </a:pPr>
            <a:r>
              <a:t/>
            </a:r>
            <a:endParaRPr sz="1695">
              <a:latin typeface="Georgia"/>
              <a:ea typeface="Georgia"/>
              <a:cs typeface="Georgia"/>
              <a:sym typeface="Georg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ro">
                <a:latin typeface="Georgia"/>
                <a:ea typeface="Georgia"/>
                <a:cs typeface="Georgia"/>
                <a:sym typeface="Georgia"/>
              </a:rPr>
              <a:t>Thank you!</a:t>
            </a:r>
            <a:endParaRPr b="1">
              <a:latin typeface="Georgia"/>
              <a:ea typeface="Georgia"/>
              <a:cs typeface="Georgia"/>
              <a:sym typeface="Georgia"/>
            </a:endParaRPr>
          </a:p>
        </p:txBody>
      </p:sp>
      <p:sp>
        <p:nvSpPr>
          <p:cNvPr id="122" name="Google Shape;122;p22"/>
          <p:cNvSpPr txBox="1"/>
          <p:nvPr/>
        </p:nvSpPr>
        <p:spPr>
          <a:xfrm>
            <a:off x="2129825" y="3627125"/>
            <a:ext cx="5718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ro" sz="1600">
                <a:solidFill>
                  <a:schemeClr val="dk2"/>
                </a:solidFill>
                <a:latin typeface="Georgia"/>
                <a:ea typeface="Georgia"/>
                <a:cs typeface="Georgia"/>
                <a:sym typeface="Georgia"/>
              </a:rPr>
              <a:t>For more about the project, access GitHub </a:t>
            </a:r>
            <a:r>
              <a:rPr b="1" i="1" lang="ro" sz="1600" u="sng">
                <a:solidFill>
                  <a:schemeClr val="dk1"/>
                </a:solidFill>
                <a:latin typeface="Georgia"/>
                <a:ea typeface="Georgia"/>
                <a:cs typeface="Georgia"/>
                <a:sym typeface="Georgia"/>
                <a:hlinkClick r:id="rId3">
                  <a:extLst>
                    <a:ext uri="{A12FA001-AC4F-418D-AE19-62706E023703}">
                      <ahyp:hlinkClr val="tx"/>
                    </a:ext>
                  </a:extLst>
                </a:hlinkClick>
              </a:rPr>
              <a:t>HERE</a:t>
            </a:r>
            <a:r>
              <a:rPr i="1" lang="ro" sz="1600">
                <a:solidFill>
                  <a:schemeClr val="dk2"/>
                </a:solidFill>
                <a:latin typeface="Georgia"/>
                <a:ea typeface="Georgia"/>
                <a:cs typeface="Georgia"/>
                <a:sym typeface="Georgia"/>
              </a:rPr>
              <a:t>.</a:t>
            </a:r>
            <a:endParaRPr i="1" sz="1600">
              <a:solidFill>
                <a:schemeClr val="dk2"/>
              </a:solidFill>
              <a:latin typeface="Georgia"/>
              <a:ea typeface="Georgia"/>
              <a:cs typeface="Georgia"/>
              <a:sym typeface="Georgia"/>
            </a:endParaRPr>
          </a:p>
        </p:txBody>
      </p:sp>
    </p:spTree>
  </p:cSld>
  <p:clrMapOvr>
    <a:masterClrMapping/>
  </p:clrMapOvr>
</p:sld>
</file>

<file path=ppt/theme/theme1.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